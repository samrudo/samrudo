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3" r:id="rId13"/>
    <p:sldId id="294" r:id="rId14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4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94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95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5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4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4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1B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9144000" cy="685800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0" y="5303520"/>
            <a:ext cx="9144000" cy="1554480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578" name="Shape 2"/>
          <p:cNvSpPr/>
          <p:nvPr/>
        </p:nvSpPr>
        <p:spPr>
          <a:xfrm>
            <a:off x="457200" y="457200"/>
            <a:ext cx="822960" cy="822960"/>
          </a:xfrm>
          <a:prstGeom prst="hexagon"/>
          <a:solidFill>
            <a:srgbClr val="2C5F2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579" name="Shape 3"/>
          <p:cNvSpPr/>
          <p:nvPr/>
        </p:nvSpPr>
        <p:spPr>
          <a:xfrm>
            <a:off x="638251" y="934517"/>
            <a:ext cx="115214" cy="205740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811073" y="745236"/>
            <a:ext cx="115214" cy="395021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581" name="Shape 5"/>
          <p:cNvSpPr/>
          <p:nvPr/>
        </p:nvSpPr>
        <p:spPr>
          <a:xfrm>
            <a:off x="983894" y="835762"/>
            <a:ext cx="115214" cy="304495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582" name="Text 6"/>
          <p:cNvSpPr txBox="1"/>
          <p:nvPr/>
        </p:nvSpPr>
        <p:spPr>
          <a:xfrm>
            <a:off x="1463040" y="411480"/>
            <a:ext cx="548640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5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</a:t>
            </a:r>
            <a:endParaRPr dirty="0" sz="5200" lang="en-US"/>
          </a:p>
        </p:txBody>
      </p:sp>
      <p:sp>
        <p:nvSpPr>
          <p:cNvPr id="1048583" name="Text 7"/>
          <p:cNvSpPr txBox="1"/>
          <p:nvPr/>
        </p:nvSpPr>
        <p:spPr>
          <a:xfrm>
            <a:off x="1463040" y="1234440"/>
            <a:ext cx="27432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lang="en-US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$SMRD</a:t>
            </a:r>
            <a:endParaRPr dirty="0" sz="2200" lang="en-US"/>
          </a:p>
        </p:txBody>
      </p:sp>
      <p:sp>
        <p:nvSpPr>
          <p:cNvPr id="1048584" name="Text 8"/>
          <p:cNvSpPr txBox="1"/>
          <p:nvPr/>
        </p:nvSpPr>
        <p:spPr>
          <a:xfrm>
            <a:off x="457200" y="2011680"/>
            <a:ext cx="82296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4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Global Payment Layer</a:t>
            </a:r>
            <a:endParaRPr dirty="0" sz="2400" lang="en-US"/>
          </a:p>
        </p:txBody>
      </p:sp>
      <p:sp>
        <p:nvSpPr>
          <p:cNvPr id="1048585" name="Shape 9"/>
          <p:cNvSpPr/>
          <p:nvPr/>
        </p:nvSpPr>
        <p:spPr>
          <a:xfrm>
            <a:off x="457200" y="2743200"/>
            <a:ext cx="4114800" cy="36576"/>
          </a:xfrm>
          <a:prstGeom prst="rect"/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1048586" name="Text 10"/>
          <p:cNvSpPr txBox="1"/>
          <p:nvPr/>
        </p:nvSpPr>
        <p:spPr>
          <a:xfrm>
            <a:off x="457200" y="2926080"/>
            <a:ext cx="82296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UPI does — and everything UPI cannot.</a:t>
            </a:r>
            <a:endParaRPr dirty="0" sz="1400" lang="en-US"/>
          </a:p>
        </p:txBody>
      </p:sp>
      <p:sp>
        <p:nvSpPr>
          <p:cNvPr id="1048587" name="Text 11"/>
          <p:cNvSpPr txBox="1"/>
          <p:nvPr/>
        </p:nvSpPr>
        <p:spPr>
          <a:xfrm>
            <a:off x="457200" y="3520440"/>
            <a:ext cx="82296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remittances  ·  Compliant DeFi  ·  RWA Tokenisation  ·  22 Indian Languages</a:t>
            </a:r>
            <a:endParaRPr dirty="0" sz="1100" lang="en-US"/>
          </a:p>
        </p:txBody>
      </p:sp>
      <p:sp>
        <p:nvSpPr>
          <p:cNvPr id="1048588" name="Text 12"/>
          <p:cNvSpPr txBox="1"/>
          <p:nvPr/>
        </p:nvSpPr>
        <p:spPr>
          <a:xfrm>
            <a:off x="457200" y="5376672"/>
            <a:ext cx="45720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Pitch Deck  |  Confidential</a:t>
            </a:r>
            <a:endParaRPr dirty="0" sz="1000" lang="en-US"/>
          </a:p>
        </p:txBody>
      </p:sp>
      <p:sp>
        <p:nvSpPr>
          <p:cNvPr id="1048589" name="Text 13"/>
          <p:cNvSpPr txBox="1"/>
          <p:nvPr/>
        </p:nvSpPr>
        <p:spPr>
          <a:xfrm>
            <a:off x="6400800" y="5376672"/>
            <a:ext cx="228600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samrudo.io</a:t>
            </a:r>
            <a:endParaRPr dirty="0" sz="10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594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dirty="0" sz="900" lang="en-US"/>
          </a:p>
        </p:txBody>
      </p:sp>
      <p:sp>
        <p:nvSpPr>
          <p:cNvPr id="1048595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changed India. But it has hard limits.</a:t>
            </a:r>
            <a:endParaRPr dirty="0" sz="2600" lang="en-US"/>
          </a:p>
        </p:txBody>
      </p:sp>
      <p:sp>
        <p:nvSpPr>
          <p:cNvPr id="1048596" name="Text 3"/>
          <p:cNvSpPr txBox="1"/>
          <p:nvPr/>
        </p:nvSpPr>
        <p:spPr>
          <a:xfrm>
            <a:off x="365760" y="1097280"/>
            <a:ext cx="84124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Indian crypto users are left completely underserved.</a:t>
            </a:r>
            <a:endParaRPr dirty="0" sz="1400" lang="en-US"/>
          </a:p>
        </p:txBody>
      </p:sp>
      <p:sp>
        <p:nvSpPr>
          <p:cNvPr id="1048597" name="Shape 4"/>
          <p:cNvSpPr/>
          <p:nvPr/>
        </p:nvSpPr>
        <p:spPr>
          <a:xfrm>
            <a:off x="365760" y="1691640"/>
            <a:ext cx="2606040" cy="1463040"/>
          </a:xfrm>
          <a:prstGeom prst="rect"/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048598" name="Text 5"/>
          <p:cNvSpPr txBox="1"/>
          <p:nvPr/>
        </p:nvSpPr>
        <p:spPr>
          <a:xfrm>
            <a:off x="365760" y="1801368"/>
            <a:ext cx="260604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dirty="0" sz="2200" lang="en-US"/>
          </a:p>
        </p:txBody>
      </p:sp>
      <p:sp>
        <p:nvSpPr>
          <p:cNvPr id="1048599" name="Text 6"/>
          <p:cNvSpPr txBox="1"/>
          <p:nvPr/>
        </p:nvSpPr>
        <p:spPr>
          <a:xfrm>
            <a:off x="457200" y="2194560"/>
            <a:ext cx="24231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cross-border</a:t>
            </a:r>
            <a:endParaRPr dirty="0" sz="1100" lang="en-US"/>
          </a:p>
        </p:txBody>
      </p:sp>
      <p:sp>
        <p:nvSpPr>
          <p:cNvPr id="1048600" name="Text 7"/>
          <p:cNvSpPr txBox="1"/>
          <p:nvPr/>
        </p:nvSpPr>
        <p:spPr>
          <a:xfrm>
            <a:off x="457200" y="2496312"/>
            <a:ext cx="24231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can't send money to UAE, UK or USA</a:t>
            </a:r>
            <a:endParaRPr dirty="0" sz="900" lang="en-US"/>
          </a:p>
        </p:txBody>
      </p:sp>
      <p:sp>
        <p:nvSpPr>
          <p:cNvPr id="1048601" name="Shape 8"/>
          <p:cNvSpPr/>
          <p:nvPr/>
        </p:nvSpPr>
        <p:spPr>
          <a:xfrm>
            <a:off x="3200400" y="1691640"/>
            <a:ext cx="2606040" cy="1463040"/>
          </a:xfrm>
          <a:prstGeom prst="rect"/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048602" name="Text 9"/>
          <p:cNvSpPr txBox="1"/>
          <p:nvPr/>
        </p:nvSpPr>
        <p:spPr>
          <a:xfrm>
            <a:off x="3200400" y="1801368"/>
            <a:ext cx="260604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dirty="0" sz="2200" lang="en-US"/>
          </a:p>
        </p:txBody>
      </p:sp>
      <p:sp>
        <p:nvSpPr>
          <p:cNvPr id="1048603" name="Text 10"/>
          <p:cNvSpPr txBox="1"/>
          <p:nvPr/>
        </p:nvSpPr>
        <p:spPr>
          <a:xfrm>
            <a:off x="3291840" y="2194560"/>
            <a:ext cx="24231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</a:t>
            </a:r>
            <a:endParaRPr dirty="0" sz="1100" lang="en-US"/>
          </a:p>
        </p:txBody>
      </p:sp>
      <p:sp>
        <p:nvSpPr>
          <p:cNvPr id="1048604" name="Text 11"/>
          <p:cNvSpPr txBox="1"/>
          <p:nvPr/>
        </p:nvSpPr>
        <p:spPr>
          <a:xfrm>
            <a:off x="3291840" y="2496312"/>
            <a:ext cx="24231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has no lending, staking or yield</a:t>
            </a:r>
            <a:endParaRPr dirty="0" sz="900" lang="en-US"/>
          </a:p>
        </p:txBody>
      </p:sp>
      <p:sp>
        <p:nvSpPr>
          <p:cNvPr id="1048605" name="Shape 12"/>
          <p:cNvSpPr/>
          <p:nvPr/>
        </p:nvSpPr>
        <p:spPr>
          <a:xfrm>
            <a:off x="6035040" y="1691640"/>
            <a:ext cx="2606040" cy="1463040"/>
          </a:xfrm>
          <a:prstGeom prst="rect"/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048606" name="Text 13"/>
          <p:cNvSpPr txBox="1"/>
          <p:nvPr/>
        </p:nvSpPr>
        <p:spPr>
          <a:xfrm>
            <a:off x="6035040" y="1801368"/>
            <a:ext cx="260604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dirty="0" sz="2200" lang="en-US"/>
          </a:p>
        </p:txBody>
      </p:sp>
      <p:sp>
        <p:nvSpPr>
          <p:cNvPr id="1048607" name="Text 14"/>
          <p:cNvSpPr txBox="1"/>
          <p:nvPr/>
        </p:nvSpPr>
        <p:spPr>
          <a:xfrm>
            <a:off x="6126480" y="2194560"/>
            <a:ext cx="24231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languages</a:t>
            </a:r>
            <a:endParaRPr dirty="0" sz="1100" lang="en-US"/>
          </a:p>
        </p:txBody>
      </p:sp>
      <p:sp>
        <p:nvSpPr>
          <p:cNvPr id="1048608" name="Text 15"/>
          <p:cNvSpPr txBox="1"/>
          <p:nvPr/>
        </p:nvSpPr>
        <p:spPr>
          <a:xfrm>
            <a:off x="6126480" y="2496312"/>
            <a:ext cx="24231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crypto apps are English-only</a:t>
            </a:r>
            <a:endParaRPr dirty="0" sz="900" lang="en-US"/>
          </a:p>
        </p:txBody>
      </p:sp>
      <p:sp>
        <p:nvSpPr>
          <p:cNvPr id="1048609" name="Shape 16"/>
          <p:cNvSpPr/>
          <p:nvPr/>
        </p:nvSpPr>
        <p:spPr>
          <a:xfrm>
            <a:off x="365760" y="3337560"/>
            <a:ext cx="2606040" cy="1463040"/>
          </a:xfrm>
          <a:prstGeom prst="rect"/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048610" name="Text 17"/>
          <p:cNvSpPr txBox="1"/>
          <p:nvPr/>
        </p:nvSpPr>
        <p:spPr>
          <a:xfrm>
            <a:off x="365760" y="3447288"/>
            <a:ext cx="260604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dirty="0" sz="2200" lang="en-US"/>
          </a:p>
        </p:txBody>
      </p:sp>
      <p:sp>
        <p:nvSpPr>
          <p:cNvPr id="1048611" name="Text 18"/>
          <p:cNvSpPr txBox="1"/>
          <p:nvPr/>
        </p:nvSpPr>
        <p:spPr>
          <a:xfrm>
            <a:off x="457200" y="3840480"/>
            <a:ext cx="24231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</a:t>
            </a:r>
            <a:endParaRPr dirty="0" sz="1100" lang="en-US"/>
          </a:p>
        </p:txBody>
      </p:sp>
      <p:sp>
        <p:nvSpPr>
          <p:cNvPr id="1048612" name="Text 19"/>
          <p:cNvSpPr txBox="1"/>
          <p:nvPr/>
        </p:nvSpPr>
        <p:spPr>
          <a:xfrm>
            <a:off x="457200" y="4142232"/>
            <a:ext cx="24231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FIU-IND compliant DeFi exists</a:t>
            </a:r>
            <a:endParaRPr dirty="0" sz="900" lang="en-US"/>
          </a:p>
        </p:txBody>
      </p:sp>
      <p:sp>
        <p:nvSpPr>
          <p:cNvPr id="1048613" name="Shape 20"/>
          <p:cNvSpPr/>
          <p:nvPr/>
        </p:nvSpPr>
        <p:spPr>
          <a:xfrm>
            <a:off x="3200400" y="3337560"/>
            <a:ext cx="2606040" cy="1463040"/>
          </a:xfrm>
          <a:prstGeom prst="rect"/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048614" name="Text 21"/>
          <p:cNvSpPr txBox="1"/>
          <p:nvPr/>
        </p:nvSpPr>
        <p:spPr>
          <a:xfrm>
            <a:off x="3200400" y="3447288"/>
            <a:ext cx="260604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dirty="0" sz="2200" lang="en-US"/>
          </a:p>
        </p:txBody>
      </p:sp>
      <p:sp>
        <p:nvSpPr>
          <p:cNvPr id="1048615" name="Text 22"/>
          <p:cNvSpPr txBox="1"/>
          <p:nvPr/>
        </p:nvSpPr>
        <p:spPr>
          <a:xfrm>
            <a:off x="3291840" y="3840480"/>
            <a:ext cx="24231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RWA access</a:t>
            </a:r>
            <a:endParaRPr dirty="0" sz="1100" lang="en-US"/>
          </a:p>
        </p:txBody>
      </p:sp>
      <p:sp>
        <p:nvSpPr>
          <p:cNvPr id="1048616" name="Text 23"/>
          <p:cNvSpPr txBox="1"/>
          <p:nvPr/>
        </p:nvSpPr>
        <p:spPr>
          <a:xfrm>
            <a:off x="3291840" y="4142232"/>
            <a:ext cx="24231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real estate untokenised</a:t>
            </a:r>
            <a:endParaRPr dirty="0" sz="900" lang="en-US"/>
          </a:p>
        </p:txBody>
      </p:sp>
      <p:sp>
        <p:nvSpPr>
          <p:cNvPr id="1048617" name="Shape 24"/>
          <p:cNvSpPr/>
          <p:nvPr/>
        </p:nvSpPr>
        <p:spPr>
          <a:xfrm>
            <a:off x="6035040" y="3337560"/>
            <a:ext cx="2606040" cy="1463040"/>
          </a:xfrm>
          <a:prstGeom prst="rect"/>
          <a:solidFill>
            <a:srgbClr val="FFF8F6"/>
          </a:solidFill>
          <a:ln w="10160">
            <a:solidFill>
              <a:srgbClr val="FFCCBB"/>
            </a:solidFill>
            <a:prstDash val="solid"/>
          </a:ln>
        </p:spPr>
      </p:sp>
      <p:sp>
        <p:nvSpPr>
          <p:cNvPr id="1048618" name="Text 25"/>
          <p:cNvSpPr txBox="1"/>
          <p:nvPr/>
        </p:nvSpPr>
        <p:spPr>
          <a:xfrm>
            <a:off x="6035040" y="3447288"/>
            <a:ext cx="260604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dirty="0" sz="2200" lang="en-US"/>
          </a:p>
        </p:txBody>
      </p:sp>
      <p:sp>
        <p:nvSpPr>
          <p:cNvPr id="1048619" name="Text 26"/>
          <p:cNvSpPr txBox="1"/>
          <p:nvPr/>
        </p:nvSpPr>
        <p:spPr>
          <a:xfrm>
            <a:off x="6126480" y="3840480"/>
            <a:ext cx="24231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remittance fees</a:t>
            </a:r>
            <a:endParaRPr dirty="0" sz="1100" lang="en-US"/>
          </a:p>
        </p:txBody>
      </p:sp>
      <p:sp>
        <p:nvSpPr>
          <p:cNvPr id="1048620" name="Text 27"/>
          <p:cNvSpPr txBox="1"/>
          <p:nvPr/>
        </p:nvSpPr>
        <p:spPr>
          <a:xfrm>
            <a:off x="6126480" y="4142232"/>
            <a:ext cx="242316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4–8% fees via SWIFT &amp; hawala</a:t>
            </a:r>
            <a:endParaRPr dirty="0" sz="900" lang="en-US"/>
          </a:p>
        </p:txBody>
      </p:sp>
      <p:sp>
        <p:nvSpPr>
          <p:cNvPr id="1048621" name="Shape 28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622" name="Text 29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2 / 12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627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dirty="0" sz="900" lang="en-US"/>
          </a:p>
        </p:txBody>
      </p:sp>
      <p:sp>
        <p:nvSpPr>
          <p:cNvPr id="1048628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$500B+ opportunity hiding in plain sight.</a:t>
            </a:r>
            <a:endParaRPr dirty="0" sz="2600" lang="en-US"/>
          </a:p>
        </p:txBody>
      </p:sp>
      <p:sp>
        <p:nvSpPr>
          <p:cNvPr id="1048629" name="Shape 3"/>
          <p:cNvSpPr/>
          <p:nvPr/>
        </p:nvSpPr>
        <p:spPr>
          <a:xfrm>
            <a:off x="365760" y="128016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30" name="Text 4"/>
          <p:cNvSpPr txBox="1"/>
          <p:nvPr/>
        </p:nvSpPr>
        <p:spPr>
          <a:xfrm>
            <a:off x="365760" y="135331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91M</a:t>
            </a:r>
            <a:endParaRPr dirty="0" sz="2200" lang="en-US"/>
          </a:p>
        </p:txBody>
      </p:sp>
      <p:sp>
        <p:nvSpPr>
          <p:cNvPr id="1048631" name="Text 5"/>
          <p:cNvSpPr txBox="1"/>
          <p:nvPr/>
        </p:nvSpPr>
        <p:spPr>
          <a:xfrm>
            <a:off x="365760" y="184708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crypto users (2026)</a:t>
            </a:r>
            <a:endParaRPr dirty="0" sz="950" lang="en-US"/>
          </a:p>
        </p:txBody>
      </p:sp>
      <p:sp>
        <p:nvSpPr>
          <p:cNvPr id="1048632" name="Shape 6"/>
          <p:cNvSpPr/>
          <p:nvPr/>
        </p:nvSpPr>
        <p:spPr>
          <a:xfrm>
            <a:off x="2423160" y="128016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33" name="Text 7"/>
          <p:cNvSpPr txBox="1"/>
          <p:nvPr/>
        </p:nvSpPr>
        <p:spPr>
          <a:xfrm>
            <a:off x="2423160" y="135331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$135B</a:t>
            </a:r>
            <a:endParaRPr dirty="0" sz="2200" lang="en-US"/>
          </a:p>
        </p:txBody>
      </p:sp>
      <p:sp>
        <p:nvSpPr>
          <p:cNvPr id="1048634" name="Text 8"/>
          <p:cNvSpPr txBox="1"/>
          <p:nvPr/>
        </p:nvSpPr>
        <p:spPr>
          <a:xfrm>
            <a:off x="2423160" y="184708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remittances to India</a:t>
            </a:r>
            <a:endParaRPr dirty="0" sz="950" lang="en-US"/>
          </a:p>
        </p:txBody>
      </p:sp>
      <p:sp>
        <p:nvSpPr>
          <p:cNvPr id="1048635" name="Shape 9"/>
          <p:cNvSpPr/>
          <p:nvPr/>
        </p:nvSpPr>
        <p:spPr>
          <a:xfrm>
            <a:off x="4480560" y="128016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36" name="Text 10"/>
          <p:cNvSpPr txBox="1"/>
          <p:nvPr/>
        </p:nvSpPr>
        <p:spPr>
          <a:xfrm>
            <a:off x="4480560" y="135331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$9.1B</a:t>
            </a:r>
            <a:endParaRPr dirty="0" sz="2200" lang="en-US"/>
          </a:p>
        </p:txBody>
      </p:sp>
      <p:sp>
        <p:nvSpPr>
          <p:cNvPr id="1048637" name="Text 11"/>
          <p:cNvSpPr txBox="1"/>
          <p:nvPr/>
        </p:nvSpPr>
        <p:spPr>
          <a:xfrm>
            <a:off x="4480560" y="184708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crypto market revenue</a:t>
            </a:r>
            <a:endParaRPr dirty="0" sz="950" lang="en-US"/>
          </a:p>
        </p:txBody>
      </p:sp>
      <p:sp>
        <p:nvSpPr>
          <p:cNvPr id="1048638" name="Shape 12"/>
          <p:cNvSpPr/>
          <p:nvPr/>
        </p:nvSpPr>
        <p:spPr>
          <a:xfrm>
            <a:off x="6537960" y="128016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39" name="Text 13"/>
          <p:cNvSpPr txBox="1"/>
          <p:nvPr/>
        </p:nvSpPr>
        <p:spPr>
          <a:xfrm>
            <a:off x="6537960" y="135331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dirty="0" sz="2200" lang="en-US"/>
          </a:p>
        </p:txBody>
      </p:sp>
      <p:sp>
        <p:nvSpPr>
          <p:cNvPr id="1048640" name="Text 14"/>
          <p:cNvSpPr txBox="1"/>
          <p:nvPr/>
        </p:nvSpPr>
        <p:spPr>
          <a:xfrm>
            <a:off x="6537960" y="184708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diaspora globally</a:t>
            </a:r>
            <a:endParaRPr dirty="0" sz="950" lang="en-US"/>
          </a:p>
        </p:txBody>
      </p:sp>
      <p:sp>
        <p:nvSpPr>
          <p:cNvPr id="1048641" name="Shape 15"/>
          <p:cNvSpPr/>
          <p:nvPr/>
        </p:nvSpPr>
        <p:spPr>
          <a:xfrm>
            <a:off x="365760" y="251460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42" name="Text 16"/>
          <p:cNvSpPr txBox="1"/>
          <p:nvPr/>
        </p:nvSpPr>
        <p:spPr>
          <a:xfrm>
            <a:off x="365760" y="258775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$3.8T</a:t>
            </a:r>
            <a:endParaRPr dirty="0" sz="2200" lang="en-US"/>
          </a:p>
        </p:txBody>
      </p:sp>
      <p:sp>
        <p:nvSpPr>
          <p:cNvPr id="1048643" name="Text 17"/>
          <p:cNvSpPr txBox="1"/>
          <p:nvPr/>
        </p:nvSpPr>
        <p:spPr>
          <a:xfrm>
            <a:off x="365760" y="308152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real estate market</a:t>
            </a:r>
            <a:endParaRPr dirty="0" sz="950" lang="en-US"/>
          </a:p>
        </p:txBody>
      </p:sp>
      <p:sp>
        <p:nvSpPr>
          <p:cNvPr id="1048644" name="Shape 18"/>
          <p:cNvSpPr/>
          <p:nvPr/>
        </p:nvSpPr>
        <p:spPr>
          <a:xfrm>
            <a:off x="2423160" y="251460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45" name="Text 19"/>
          <p:cNvSpPr txBox="1"/>
          <p:nvPr/>
        </p:nvSpPr>
        <p:spPr>
          <a:xfrm>
            <a:off x="2423160" y="258775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25,000T</a:t>
            </a:r>
            <a:endParaRPr dirty="0" sz="2200" lang="en-US"/>
          </a:p>
        </p:txBody>
      </p:sp>
      <p:sp>
        <p:nvSpPr>
          <p:cNvPr id="1048646" name="Text 20"/>
          <p:cNvSpPr txBox="1"/>
          <p:nvPr/>
        </p:nvSpPr>
        <p:spPr>
          <a:xfrm>
            <a:off x="2423160" y="308152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gold holdings (largest)</a:t>
            </a:r>
            <a:endParaRPr dirty="0" sz="950" lang="en-US"/>
          </a:p>
        </p:txBody>
      </p:sp>
      <p:sp>
        <p:nvSpPr>
          <p:cNvPr id="1048647" name="Shape 21"/>
          <p:cNvSpPr/>
          <p:nvPr/>
        </p:nvSpPr>
        <p:spPr>
          <a:xfrm>
            <a:off x="4480560" y="251460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48" name="Text 22"/>
          <p:cNvSpPr txBox="1"/>
          <p:nvPr/>
        </p:nvSpPr>
        <p:spPr>
          <a:xfrm>
            <a:off x="4480560" y="258775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+623%</a:t>
            </a:r>
            <a:endParaRPr dirty="0" sz="2200" lang="en-US"/>
          </a:p>
        </p:txBody>
      </p:sp>
      <p:sp>
        <p:nvSpPr>
          <p:cNvPr id="1048649" name="Text 23"/>
          <p:cNvSpPr txBox="1"/>
          <p:nvPr/>
        </p:nvSpPr>
        <p:spPr>
          <a:xfrm>
            <a:off x="4480560" y="308152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SIP growth 2025</a:t>
            </a:r>
            <a:endParaRPr dirty="0" sz="950" lang="en-US"/>
          </a:p>
        </p:txBody>
      </p:sp>
      <p:sp>
        <p:nvSpPr>
          <p:cNvPr id="1048650" name="Shape 24"/>
          <p:cNvSpPr/>
          <p:nvPr/>
        </p:nvSpPr>
        <p:spPr>
          <a:xfrm>
            <a:off x="6537960" y="2514600"/>
            <a:ext cx="1920240" cy="10058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51" name="Text 25"/>
          <p:cNvSpPr txBox="1"/>
          <p:nvPr/>
        </p:nvSpPr>
        <p:spPr>
          <a:xfrm>
            <a:off x="6537960" y="2587752"/>
            <a:ext cx="192024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200" lang="en-US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$30T</a:t>
            </a:r>
            <a:endParaRPr dirty="0" sz="2200" lang="en-US"/>
          </a:p>
        </p:txBody>
      </p:sp>
      <p:sp>
        <p:nvSpPr>
          <p:cNvPr id="1048652" name="Text 26"/>
          <p:cNvSpPr txBox="1"/>
          <p:nvPr/>
        </p:nvSpPr>
        <p:spPr>
          <a:xfrm>
            <a:off x="6537960" y="3081528"/>
            <a:ext cx="1920240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RWA market by 2030</a:t>
            </a:r>
            <a:endParaRPr dirty="0" sz="950" lang="en-US"/>
          </a:p>
        </p:txBody>
      </p:sp>
      <p:sp>
        <p:nvSpPr>
          <p:cNvPr id="1048653" name="Shape 27"/>
          <p:cNvSpPr/>
          <p:nvPr/>
        </p:nvSpPr>
        <p:spPr>
          <a:xfrm>
            <a:off x="365760" y="3749040"/>
            <a:ext cx="8412480" cy="73152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654" name="Text 28"/>
          <p:cNvSpPr txBox="1"/>
          <p:nvPr/>
        </p:nvSpPr>
        <p:spPr>
          <a:xfrm>
            <a:off x="548640" y="3822192"/>
            <a:ext cx="80467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 of Indian crypto volume goes offshore today due to poor INR rails — Samrudo captures this back.</a:t>
            </a:r>
            <a:endParaRPr dirty="0" sz="1300" lang="en-US"/>
          </a:p>
        </p:txBody>
      </p:sp>
      <p:sp>
        <p:nvSpPr>
          <p:cNvPr id="1048655" name="Shape 29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656" name="Text 30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3 / 12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661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dirty="0" sz="900" lang="en-US"/>
          </a:p>
        </p:txBody>
      </p:sp>
      <p:sp>
        <p:nvSpPr>
          <p:cNvPr id="1048662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— India's global payment layer.</a:t>
            </a:r>
            <a:endParaRPr dirty="0" sz="2600" lang="en-US"/>
          </a:p>
        </p:txBody>
      </p:sp>
      <p:sp>
        <p:nvSpPr>
          <p:cNvPr id="1048663" name="Shape 3"/>
          <p:cNvSpPr/>
          <p:nvPr/>
        </p:nvSpPr>
        <p:spPr>
          <a:xfrm>
            <a:off x="4160520" y="1188720"/>
            <a:ext cx="914400" cy="914400"/>
          </a:xfrm>
          <a:prstGeom prst="hexagon"/>
          <a:solidFill>
            <a:srgbClr val="2C5F2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664" name="Shape 4"/>
          <p:cNvSpPr/>
          <p:nvPr/>
        </p:nvSpPr>
        <p:spPr>
          <a:xfrm>
            <a:off x="4361688" y="1719072"/>
            <a:ext cx="128016" cy="228600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665" name="Shape 5"/>
          <p:cNvSpPr/>
          <p:nvPr/>
        </p:nvSpPr>
        <p:spPr>
          <a:xfrm>
            <a:off x="4553712" y="1508760"/>
            <a:ext cx="128016" cy="438912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666" name="Shape 6"/>
          <p:cNvSpPr/>
          <p:nvPr/>
        </p:nvSpPr>
        <p:spPr>
          <a:xfrm>
            <a:off x="4745736" y="1609344"/>
            <a:ext cx="128016" cy="338328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667" name="Text 7"/>
          <p:cNvSpPr txBox="1"/>
          <p:nvPr/>
        </p:nvSpPr>
        <p:spPr>
          <a:xfrm>
            <a:off x="3474720" y="2240280"/>
            <a:ext cx="228600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BharatChain</a:t>
            </a:r>
            <a:endParaRPr dirty="0" sz="1300" lang="en-US"/>
          </a:p>
        </p:txBody>
      </p:sp>
      <p:sp>
        <p:nvSpPr>
          <p:cNvPr id="1048668" name="Text 8"/>
          <p:cNvSpPr txBox="1"/>
          <p:nvPr/>
        </p:nvSpPr>
        <p:spPr>
          <a:xfrm>
            <a:off x="3474720" y="2542032"/>
            <a:ext cx="228600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own L1 blockchain</a:t>
            </a:r>
            <a:endParaRPr dirty="0" sz="1000" lang="en-US"/>
          </a:p>
        </p:txBody>
      </p:sp>
      <p:sp>
        <p:nvSpPr>
          <p:cNvPr id="1048669" name="Shape 9"/>
          <p:cNvSpPr/>
          <p:nvPr/>
        </p:nvSpPr>
        <p:spPr>
          <a:xfrm>
            <a:off x="274320" y="1280160"/>
            <a:ext cx="2743200" cy="12344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70" name="Text 10"/>
          <p:cNvSpPr txBox="1"/>
          <p:nvPr/>
        </p:nvSpPr>
        <p:spPr>
          <a:xfrm>
            <a:off x="365760" y="1353312"/>
            <a:ext cx="2560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Bridge</a:t>
            </a:r>
            <a:endParaRPr dirty="0" sz="1200" lang="en-US"/>
          </a:p>
        </p:txBody>
      </p:sp>
      <p:sp>
        <p:nvSpPr>
          <p:cNvPr id="1048671" name="Text 11"/>
          <p:cNvSpPr txBox="1"/>
          <p:nvPr/>
        </p:nvSpPr>
        <p:spPr>
          <a:xfrm>
            <a:off x="365760" y="1682496"/>
            <a:ext cx="25603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 UPI QR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wallet</a:t>
            </a:r>
            <a:endParaRPr dirty="0" sz="1000" lang="en-US"/>
          </a:p>
        </p:txBody>
      </p:sp>
      <p:sp>
        <p:nvSpPr>
          <p:cNvPr id="1048672" name="Shape 12"/>
          <p:cNvSpPr/>
          <p:nvPr/>
        </p:nvSpPr>
        <p:spPr>
          <a:xfrm>
            <a:off x="274320" y="2697480"/>
            <a:ext cx="2743200" cy="12344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73" name="Text 13"/>
          <p:cNvSpPr txBox="1"/>
          <p:nvPr/>
        </p:nvSpPr>
        <p:spPr>
          <a:xfrm>
            <a:off x="365760" y="2770632"/>
            <a:ext cx="2560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DeFi</a:t>
            </a:r>
            <a:endParaRPr dirty="0" sz="1200" lang="en-US"/>
          </a:p>
        </p:txBody>
      </p:sp>
      <p:sp>
        <p:nvSpPr>
          <p:cNvPr id="1048674" name="Text 14"/>
          <p:cNvSpPr txBox="1"/>
          <p:nvPr/>
        </p:nvSpPr>
        <p:spPr>
          <a:xfrm>
            <a:off x="365760" y="3099816"/>
            <a:ext cx="25603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lending,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&amp; yield</a:t>
            </a:r>
            <a:endParaRPr dirty="0" sz="1000" lang="en-US"/>
          </a:p>
        </p:txBody>
      </p:sp>
      <p:sp>
        <p:nvSpPr>
          <p:cNvPr id="1048675" name="Shape 15"/>
          <p:cNvSpPr/>
          <p:nvPr/>
        </p:nvSpPr>
        <p:spPr>
          <a:xfrm>
            <a:off x="274320" y="4114800"/>
            <a:ext cx="2743200" cy="12344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76" name="Text 16"/>
          <p:cNvSpPr txBox="1"/>
          <p:nvPr/>
        </p:nvSpPr>
        <p:spPr>
          <a:xfrm>
            <a:off x="365760" y="4187952"/>
            <a:ext cx="2560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Languages</a:t>
            </a:r>
            <a:endParaRPr dirty="0" sz="1200" lang="en-US"/>
          </a:p>
        </p:txBody>
      </p:sp>
      <p:sp>
        <p:nvSpPr>
          <p:cNvPr id="1048677" name="Text 17"/>
          <p:cNvSpPr txBox="1"/>
          <p:nvPr/>
        </p:nvSpPr>
        <p:spPr>
          <a:xfrm>
            <a:off x="365760" y="4517136"/>
            <a:ext cx="25603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crypto wallet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of Bharat</a:t>
            </a:r>
            <a:endParaRPr dirty="0" sz="1000" lang="en-US"/>
          </a:p>
        </p:txBody>
      </p:sp>
      <p:sp>
        <p:nvSpPr>
          <p:cNvPr id="1048678" name="Shape 18"/>
          <p:cNvSpPr/>
          <p:nvPr/>
        </p:nvSpPr>
        <p:spPr>
          <a:xfrm>
            <a:off x="6126480" y="1280160"/>
            <a:ext cx="2743200" cy="12344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79" name="Text 19"/>
          <p:cNvSpPr txBox="1"/>
          <p:nvPr/>
        </p:nvSpPr>
        <p:spPr>
          <a:xfrm>
            <a:off x="6217920" y="1353312"/>
            <a:ext cx="2560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Tokens</a:t>
            </a:r>
            <a:endParaRPr dirty="0" sz="1200" lang="en-US"/>
          </a:p>
        </p:txBody>
      </p:sp>
      <p:sp>
        <p:nvSpPr>
          <p:cNvPr id="1048680" name="Text 20"/>
          <p:cNvSpPr txBox="1"/>
          <p:nvPr/>
        </p:nvSpPr>
        <p:spPr>
          <a:xfrm>
            <a:off x="6217920" y="1682496"/>
            <a:ext cx="25603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real estate &amp;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on-chain</a:t>
            </a:r>
            <a:endParaRPr dirty="0" sz="1000" lang="en-US"/>
          </a:p>
        </p:txBody>
      </p:sp>
      <p:sp>
        <p:nvSpPr>
          <p:cNvPr id="1048681" name="Shape 21"/>
          <p:cNvSpPr/>
          <p:nvPr/>
        </p:nvSpPr>
        <p:spPr>
          <a:xfrm>
            <a:off x="6126480" y="2697480"/>
            <a:ext cx="2743200" cy="12344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82" name="Text 22"/>
          <p:cNvSpPr txBox="1"/>
          <p:nvPr/>
        </p:nvSpPr>
        <p:spPr>
          <a:xfrm>
            <a:off x="6217920" y="2770632"/>
            <a:ext cx="2560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</a:t>
            </a:r>
            <a:endParaRPr dirty="0" sz="1200" lang="en-US"/>
          </a:p>
        </p:txBody>
      </p:sp>
      <p:sp>
        <p:nvSpPr>
          <p:cNvPr id="1048683" name="Text 23"/>
          <p:cNvSpPr txBox="1"/>
          <p:nvPr/>
        </p:nvSpPr>
        <p:spPr>
          <a:xfrm>
            <a:off x="6217920" y="3099816"/>
            <a:ext cx="25603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fees, 30-second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transfers</a:t>
            </a:r>
            <a:endParaRPr dirty="0" sz="1000" lang="en-US"/>
          </a:p>
        </p:txBody>
      </p:sp>
      <p:sp>
        <p:nvSpPr>
          <p:cNvPr id="1048684" name="Shape 24"/>
          <p:cNvSpPr/>
          <p:nvPr/>
        </p:nvSpPr>
        <p:spPr>
          <a:xfrm>
            <a:off x="6126480" y="4114800"/>
            <a:ext cx="2743200" cy="123444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685" name="Text 25"/>
          <p:cNvSpPr txBox="1"/>
          <p:nvPr/>
        </p:nvSpPr>
        <p:spPr>
          <a:xfrm>
            <a:off x="6217920" y="4187952"/>
            <a:ext cx="2560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Layer</a:t>
            </a:r>
            <a:endParaRPr dirty="0" sz="1200" lang="en-US"/>
          </a:p>
        </p:txBody>
      </p:sp>
      <p:sp>
        <p:nvSpPr>
          <p:cNvPr id="1048686" name="Text 26"/>
          <p:cNvSpPr txBox="1"/>
          <p:nvPr/>
        </p:nvSpPr>
        <p:spPr>
          <a:xfrm>
            <a:off x="6217920" y="4517136"/>
            <a:ext cx="25603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global,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via UPI</a:t>
            </a:r>
            <a:endParaRPr dirty="0" sz="1000" lang="en-US"/>
          </a:p>
        </p:txBody>
      </p:sp>
      <p:sp>
        <p:nvSpPr>
          <p:cNvPr id="1048687" name="Shape 27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688" name="Text 28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4 / 12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693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dirty="0" sz="900" lang="en-US"/>
          </a:p>
        </p:txBody>
      </p:sp>
      <p:sp>
        <p:nvSpPr>
          <p:cNvPr id="1048694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 no other Indian crypto has.</a:t>
            </a:r>
            <a:endParaRPr dirty="0" sz="2600" lang="en-US"/>
          </a:p>
        </p:txBody>
      </p:sp>
      <p:sp>
        <p:nvSpPr>
          <p:cNvPr id="1048695" name="Shape 3"/>
          <p:cNvSpPr/>
          <p:nvPr/>
        </p:nvSpPr>
        <p:spPr>
          <a:xfrm>
            <a:off x="274320" y="1234440"/>
            <a:ext cx="2560320" cy="1463040"/>
          </a:xfrm>
          <a:prstGeom prst="rect"/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696" name="Text 4"/>
          <p:cNvSpPr txBox="1"/>
          <p:nvPr/>
        </p:nvSpPr>
        <p:spPr>
          <a:xfrm>
            <a:off x="274320" y="1371600"/>
            <a:ext cx="25603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dirty="0" sz="2200" lang="en-US"/>
          </a:p>
        </p:txBody>
      </p:sp>
      <p:sp>
        <p:nvSpPr>
          <p:cNvPr id="1048697" name="Text 5"/>
          <p:cNvSpPr txBox="1"/>
          <p:nvPr/>
        </p:nvSpPr>
        <p:spPr>
          <a:xfrm>
            <a:off x="365760" y="1737360"/>
            <a:ext cx="23774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UPI Bridge</a:t>
            </a:r>
            <a:endParaRPr dirty="0" sz="1100" lang="en-US"/>
          </a:p>
        </p:txBody>
      </p:sp>
      <p:sp>
        <p:nvSpPr>
          <p:cNvPr id="1048698" name="Text 6"/>
          <p:cNvSpPr txBox="1"/>
          <p:nvPr/>
        </p:nvSpPr>
        <p:spPr>
          <a:xfrm>
            <a:off x="384048" y="2039112"/>
            <a:ext cx="2340864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 UPI QR from crypto wallet. No exchange needed.</a:t>
            </a:r>
            <a:endParaRPr dirty="0" sz="900" lang="en-US"/>
          </a:p>
        </p:txBody>
      </p:sp>
      <p:sp>
        <p:nvSpPr>
          <p:cNvPr id="1048699" name="Shape 7"/>
          <p:cNvSpPr/>
          <p:nvPr/>
        </p:nvSpPr>
        <p:spPr>
          <a:xfrm>
            <a:off x="3063240" y="1234440"/>
            <a:ext cx="2560320" cy="1463040"/>
          </a:xfrm>
          <a:prstGeom prst="rect"/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700" name="Text 8"/>
          <p:cNvSpPr txBox="1"/>
          <p:nvPr/>
        </p:nvSpPr>
        <p:spPr>
          <a:xfrm>
            <a:off x="3063240" y="1371600"/>
            <a:ext cx="25603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dirty="0" sz="2200" lang="en-US"/>
          </a:p>
        </p:txBody>
      </p:sp>
      <p:sp>
        <p:nvSpPr>
          <p:cNvPr id="1048701" name="Text 9"/>
          <p:cNvSpPr txBox="1"/>
          <p:nvPr/>
        </p:nvSpPr>
        <p:spPr>
          <a:xfrm>
            <a:off x="3154680" y="1737360"/>
            <a:ext cx="23774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Indian Languages</a:t>
            </a:r>
            <a:endParaRPr dirty="0" sz="1100" lang="en-US"/>
          </a:p>
        </p:txBody>
      </p:sp>
      <p:sp>
        <p:nvSpPr>
          <p:cNvPr id="1048702" name="Text 10"/>
          <p:cNvSpPr txBox="1"/>
          <p:nvPr/>
        </p:nvSpPr>
        <p:spPr>
          <a:xfrm>
            <a:off x="3172968" y="2039112"/>
            <a:ext cx="2340864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Telugu, Marathi and 18 more. First for Bharat.</a:t>
            </a:r>
            <a:endParaRPr dirty="0" sz="900" lang="en-US"/>
          </a:p>
        </p:txBody>
      </p:sp>
      <p:sp>
        <p:nvSpPr>
          <p:cNvPr id="1048703" name="Shape 11"/>
          <p:cNvSpPr/>
          <p:nvPr/>
        </p:nvSpPr>
        <p:spPr>
          <a:xfrm>
            <a:off x="5852160" y="1234440"/>
            <a:ext cx="2560320" cy="1463040"/>
          </a:xfrm>
          <a:prstGeom prst="rect"/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704" name="Text 12"/>
          <p:cNvSpPr txBox="1"/>
          <p:nvPr/>
        </p:nvSpPr>
        <p:spPr>
          <a:xfrm>
            <a:off x="5852160" y="1371600"/>
            <a:ext cx="25603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dirty="0" sz="2200" lang="en-US"/>
          </a:p>
        </p:txBody>
      </p:sp>
      <p:sp>
        <p:nvSpPr>
          <p:cNvPr id="1048705" name="Text 13"/>
          <p:cNvSpPr txBox="1"/>
          <p:nvPr/>
        </p:nvSpPr>
        <p:spPr>
          <a:xfrm>
            <a:off x="5943600" y="1737360"/>
            <a:ext cx="23774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Compliant DeFi</a:t>
            </a:r>
            <a:endParaRPr dirty="0" sz="1100" lang="en-US"/>
          </a:p>
        </p:txBody>
      </p:sp>
      <p:sp>
        <p:nvSpPr>
          <p:cNvPr id="1048706" name="Text 14"/>
          <p:cNvSpPr txBox="1"/>
          <p:nvPr/>
        </p:nvSpPr>
        <p:spPr>
          <a:xfrm>
            <a:off x="5961888" y="2039112"/>
            <a:ext cx="2340864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lending, staking &amp; yield. Legal from day one.</a:t>
            </a:r>
            <a:endParaRPr dirty="0" sz="900" lang="en-US"/>
          </a:p>
        </p:txBody>
      </p:sp>
      <p:sp>
        <p:nvSpPr>
          <p:cNvPr id="1048707" name="Shape 15"/>
          <p:cNvSpPr/>
          <p:nvPr/>
        </p:nvSpPr>
        <p:spPr>
          <a:xfrm>
            <a:off x="274320" y="2926080"/>
            <a:ext cx="2560320" cy="1463040"/>
          </a:xfrm>
          <a:prstGeom prst="rect"/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708" name="Text 16"/>
          <p:cNvSpPr txBox="1"/>
          <p:nvPr/>
        </p:nvSpPr>
        <p:spPr>
          <a:xfrm>
            <a:off x="274320" y="3063240"/>
            <a:ext cx="25603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dirty="0" sz="2200" lang="en-US"/>
          </a:p>
        </p:txBody>
      </p:sp>
      <p:sp>
        <p:nvSpPr>
          <p:cNvPr id="1048709" name="Text 17"/>
          <p:cNvSpPr txBox="1"/>
          <p:nvPr/>
        </p:nvSpPr>
        <p:spPr>
          <a:xfrm>
            <a:off x="365760" y="3429000"/>
            <a:ext cx="23774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Tokenisation</a:t>
            </a:r>
            <a:endParaRPr dirty="0" sz="1100" lang="en-US"/>
          </a:p>
        </p:txBody>
      </p:sp>
      <p:sp>
        <p:nvSpPr>
          <p:cNvPr id="1048710" name="Text 18"/>
          <p:cNvSpPr txBox="1"/>
          <p:nvPr/>
        </p:nvSpPr>
        <p:spPr>
          <a:xfrm>
            <a:off x="384048" y="3730752"/>
            <a:ext cx="2340864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gold, fractional real estate, agri commodity tokens.</a:t>
            </a:r>
            <a:endParaRPr dirty="0" sz="900" lang="en-US"/>
          </a:p>
        </p:txBody>
      </p:sp>
      <p:sp>
        <p:nvSpPr>
          <p:cNvPr id="1048711" name="Shape 19"/>
          <p:cNvSpPr/>
          <p:nvPr/>
        </p:nvSpPr>
        <p:spPr>
          <a:xfrm>
            <a:off x="3063240" y="2926080"/>
            <a:ext cx="2560320" cy="1463040"/>
          </a:xfrm>
          <a:prstGeom prst="rect"/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712" name="Text 20"/>
          <p:cNvSpPr txBox="1"/>
          <p:nvPr/>
        </p:nvSpPr>
        <p:spPr>
          <a:xfrm>
            <a:off x="3063240" y="3063240"/>
            <a:ext cx="25603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dirty="0" sz="2200" lang="en-US"/>
          </a:p>
        </p:txBody>
      </p:sp>
      <p:sp>
        <p:nvSpPr>
          <p:cNvPr id="1048713" name="Text 21"/>
          <p:cNvSpPr txBox="1"/>
          <p:nvPr/>
        </p:nvSpPr>
        <p:spPr>
          <a:xfrm>
            <a:off x="3154680" y="3429000"/>
            <a:ext cx="23774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1% Remittances</a:t>
            </a:r>
            <a:endParaRPr dirty="0" sz="1100" lang="en-US"/>
          </a:p>
        </p:txBody>
      </p:sp>
      <p:sp>
        <p:nvSpPr>
          <p:cNvPr id="1048714" name="Text 22"/>
          <p:cNvSpPr txBox="1"/>
          <p:nvPr/>
        </p:nvSpPr>
        <p:spPr>
          <a:xfrm>
            <a:off x="3172968" y="3730752"/>
            <a:ext cx="2340864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↔ UAE, UK, USA in 30 seconds. vs 4–8% via SWIFT.</a:t>
            </a:r>
            <a:endParaRPr dirty="0" sz="900" lang="en-US"/>
          </a:p>
        </p:txBody>
      </p:sp>
      <p:sp>
        <p:nvSpPr>
          <p:cNvPr id="1048715" name="Shape 23"/>
          <p:cNvSpPr/>
          <p:nvPr/>
        </p:nvSpPr>
        <p:spPr>
          <a:xfrm>
            <a:off x="5852160" y="2926080"/>
            <a:ext cx="2560320" cy="1463040"/>
          </a:xfrm>
          <a:prstGeom prst="rect"/>
          <a:solidFill>
            <a:srgbClr val="FFFFFF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716" name="Text 24"/>
          <p:cNvSpPr txBox="1"/>
          <p:nvPr/>
        </p:nvSpPr>
        <p:spPr>
          <a:xfrm>
            <a:off x="5852160" y="3063240"/>
            <a:ext cx="25603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dirty="0" sz="2200" lang="en-US"/>
          </a:p>
        </p:txBody>
      </p:sp>
      <p:sp>
        <p:nvSpPr>
          <p:cNvPr id="1048717" name="Text 25"/>
          <p:cNvSpPr txBox="1"/>
          <p:nvPr/>
        </p:nvSpPr>
        <p:spPr>
          <a:xfrm>
            <a:off x="5943600" y="3429000"/>
            <a:ext cx="237744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Layer</a:t>
            </a:r>
            <a:endParaRPr dirty="0" sz="1100" lang="en-US"/>
          </a:p>
        </p:txBody>
      </p:sp>
      <p:sp>
        <p:nvSpPr>
          <p:cNvPr id="1048718" name="Text 26"/>
          <p:cNvSpPr txBox="1"/>
          <p:nvPr/>
        </p:nvSpPr>
        <p:spPr>
          <a:xfrm>
            <a:off x="5961888" y="3730752"/>
            <a:ext cx="2340864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USD globally, spend via UPI locally. Auto ITR reports.</a:t>
            </a:r>
            <a:endParaRPr dirty="0" sz="900" lang="en-US"/>
          </a:p>
        </p:txBody>
      </p:sp>
      <p:sp>
        <p:nvSpPr>
          <p:cNvPr id="1048719" name="Shape 27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720" name="Text 28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5 / 12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725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dirty="0" sz="900" lang="en-US"/>
          </a:p>
        </p:txBody>
      </p:sp>
      <p:sp>
        <p:nvSpPr>
          <p:cNvPr id="1048726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BharatChain — Built for India's scale.</a:t>
            </a:r>
            <a:endParaRPr dirty="0" sz="2600" lang="en-US"/>
          </a:p>
        </p:txBody>
      </p:sp>
      <p:sp>
        <p:nvSpPr>
          <p:cNvPr id="1048727" name="Shape 3"/>
          <p:cNvSpPr/>
          <p:nvPr/>
        </p:nvSpPr>
        <p:spPr>
          <a:xfrm>
            <a:off x="365760" y="1280160"/>
            <a:ext cx="2194560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28" name="Shape 4"/>
          <p:cNvSpPr/>
          <p:nvPr/>
        </p:nvSpPr>
        <p:spPr>
          <a:xfrm>
            <a:off x="2578608" y="1280160"/>
            <a:ext cx="6199632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29" name="Text 5"/>
          <p:cNvSpPr txBox="1"/>
          <p:nvPr/>
        </p:nvSpPr>
        <p:spPr>
          <a:xfrm>
            <a:off x="457200" y="1344168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dirty="0" sz="1000" lang="en-US"/>
          </a:p>
        </p:txBody>
      </p:sp>
      <p:sp>
        <p:nvSpPr>
          <p:cNvPr id="1048730" name="Text 6"/>
          <p:cNvSpPr txBox="1"/>
          <p:nvPr/>
        </p:nvSpPr>
        <p:spPr>
          <a:xfrm>
            <a:off x="2670048" y="1344168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Proof of Stake (DPoS) — 21 validators, energy efficient</a:t>
            </a:r>
            <a:endParaRPr dirty="0" sz="1000" lang="en-US"/>
          </a:p>
        </p:txBody>
      </p:sp>
      <p:sp>
        <p:nvSpPr>
          <p:cNvPr id="1048731" name="Shape 7"/>
          <p:cNvSpPr/>
          <p:nvPr/>
        </p:nvSpPr>
        <p:spPr>
          <a:xfrm>
            <a:off x="365760" y="1792224"/>
            <a:ext cx="2194560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32" name="Shape 8"/>
          <p:cNvSpPr/>
          <p:nvPr/>
        </p:nvSpPr>
        <p:spPr>
          <a:xfrm>
            <a:off x="2578608" y="1792224"/>
            <a:ext cx="6199632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33" name="Text 9"/>
          <p:cNvSpPr txBox="1"/>
          <p:nvPr/>
        </p:nvSpPr>
        <p:spPr>
          <a:xfrm>
            <a:off x="457200" y="1856232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time</a:t>
            </a:r>
            <a:endParaRPr dirty="0" sz="1000" lang="en-US"/>
          </a:p>
        </p:txBody>
      </p:sp>
      <p:sp>
        <p:nvSpPr>
          <p:cNvPr id="1048734" name="Text 10"/>
          <p:cNvSpPr txBox="1"/>
          <p:nvPr/>
        </p:nvSpPr>
        <p:spPr>
          <a:xfrm>
            <a:off x="2670048" y="1856232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seconds — matches UPI's near-instant settlement</a:t>
            </a:r>
            <a:endParaRPr dirty="0" sz="1000" lang="en-US"/>
          </a:p>
        </p:txBody>
      </p:sp>
      <p:sp>
        <p:nvSpPr>
          <p:cNvPr id="1048735" name="Shape 11"/>
          <p:cNvSpPr/>
          <p:nvPr/>
        </p:nvSpPr>
        <p:spPr>
          <a:xfrm>
            <a:off x="365760" y="2304288"/>
            <a:ext cx="2194560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36" name="Shape 12"/>
          <p:cNvSpPr/>
          <p:nvPr/>
        </p:nvSpPr>
        <p:spPr>
          <a:xfrm>
            <a:off x="2578608" y="2304288"/>
            <a:ext cx="6199632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37" name="Text 13"/>
          <p:cNvSpPr txBox="1"/>
          <p:nvPr/>
        </p:nvSpPr>
        <p:spPr>
          <a:xfrm>
            <a:off x="457200" y="2368296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dirty="0" sz="1000" lang="en-US"/>
          </a:p>
        </p:txBody>
      </p:sp>
      <p:sp>
        <p:nvSpPr>
          <p:cNvPr id="1048738" name="Text 14"/>
          <p:cNvSpPr txBox="1"/>
          <p:nvPr/>
        </p:nvSpPr>
        <p:spPr>
          <a:xfrm>
            <a:off x="2670048" y="2368296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TPS — handles India's payment scale</a:t>
            </a:r>
            <a:endParaRPr dirty="0" sz="1000" lang="en-US"/>
          </a:p>
        </p:txBody>
      </p:sp>
      <p:sp>
        <p:nvSpPr>
          <p:cNvPr id="1048739" name="Shape 15"/>
          <p:cNvSpPr/>
          <p:nvPr/>
        </p:nvSpPr>
        <p:spPr>
          <a:xfrm>
            <a:off x="365760" y="2816352"/>
            <a:ext cx="2194560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40" name="Shape 16"/>
          <p:cNvSpPr/>
          <p:nvPr/>
        </p:nvSpPr>
        <p:spPr>
          <a:xfrm>
            <a:off x="2578608" y="2816352"/>
            <a:ext cx="6199632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41" name="Text 17"/>
          <p:cNvSpPr txBox="1"/>
          <p:nvPr/>
        </p:nvSpPr>
        <p:spPr>
          <a:xfrm>
            <a:off x="457200" y="2880360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compatible</a:t>
            </a:r>
            <a:endParaRPr dirty="0" sz="1000" lang="en-US"/>
          </a:p>
        </p:txBody>
      </p:sp>
      <p:sp>
        <p:nvSpPr>
          <p:cNvPr id="1048742" name="Text 18"/>
          <p:cNvSpPr txBox="1"/>
          <p:nvPr/>
        </p:nvSpPr>
        <p:spPr>
          <a:xfrm>
            <a:off x="2670048" y="2880360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dApps deploy on BharatChain without code changes</a:t>
            </a:r>
            <a:endParaRPr dirty="0" sz="1000" lang="en-US"/>
          </a:p>
        </p:txBody>
      </p:sp>
      <p:sp>
        <p:nvSpPr>
          <p:cNvPr id="1048743" name="Shape 19"/>
          <p:cNvSpPr/>
          <p:nvPr/>
        </p:nvSpPr>
        <p:spPr>
          <a:xfrm>
            <a:off x="365760" y="3328416"/>
            <a:ext cx="2194560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44" name="Shape 20"/>
          <p:cNvSpPr/>
          <p:nvPr/>
        </p:nvSpPr>
        <p:spPr>
          <a:xfrm>
            <a:off x="2578608" y="3328416"/>
            <a:ext cx="6199632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45" name="Text 21"/>
          <p:cNvSpPr txBox="1"/>
          <p:nvPr/>
        </p:nvSpPr>
        <p:spPr>
          <a:xfrm>
            <a:off x="457200" y="3392424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</a:t>
            </a:r>
            <a:endParaRPr dirty="0" sz="1000" lang="en-US"/>
          </a:p>
        </p:txBody>
      </p:sp>
      <p:sp>
        <p:nvSpPr>
          <p:cNvPr id="1048746" name="Text 22"/>
          <p:cNvSpPr txBox="1"/>
          <p:nvPr/>
        </p:nvSpPr>
        <p:spPr>
          <a:xfrm>
            <a:off x="2670048" y="3392424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₹0.01 — viable for chai-level micro-payments</a:t>
            </a:r>
            <a:endParaRPr dirty="0" sz="1000" lang="en-US"/>
          </a:p>
        </p:txBody>
      </p:sp>
      <p:sp>
        <p:nvSpPr>
          <p:cNvPr id="1048747" name="Shape 23"/>
          <p:cNvSpPr/>
          <p:nvPr/>
        </p:nvSpPr>
        <p:spPr>
          <a:xfrm>
            <a:off x="365760" y="3840480"/>
            <a:ext cx="2194560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48" name="Shape 24"/>
          <p:cNvSpPr/>
          <p:nvPr/>
        </p:nvSpPr>
        <p:spPr>
          <a:xfrm>
            <a:off x="2578608" y="3840480"/>
            <a:ext cx="6199632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49" name="Text 25"/>
          <p:cNvSpPr txBox="1"/>
          <p:nvPr/>
        </p:nvSpPr>
        <p:spPr>
          <a:xfrm>
            <a:off x="457200" y="3904488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stablecoin</a:t>
            </a:r>
            <a:endParaRPr dirty="0" sz="1000" lang="en-US"/>
          </a:p>
        </p:txBody>
      </p:sp>
      <p:sp>
        <p:nvSpPr>
          <p:cNvPr id="1048750" name="Text 26"/>
          <p:cNvSpPr txBox="1"/>
          <p:nvPr/>
        </p:nvSpPr>
        <p:spPr>
          <a:xfrm>
            <a:off x="2670048" y="3904488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INRX — fully reserved INR-backed stablecoin built into the chain</a:t>
            </a:r>
            <a:endParaRPr dirty="0" sz="1000" lang="en-US"/>
          </a:p>
        </p:txBody>
      </p:sp>
      <p:sp>
        <p:nvSpPr>
          <p:cNvPr id="1048751" name="Shape 27"/>
          <p:cNvSpPr/>
          <p:nvPr/>
        </p:nvSpPr>
        <p:spPr>
          <a:xfrm>
            <a:off x="365760" y="4352544"/>
            <a:ext cx="2194560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52" name="Shape 28"/>
          <p:cNvSpPr/>
          <p:nvPr/>
        </p:nvSpPr>
        <p:spPr>
          <a:xfrm>
            <a:off x="2578608" y="4352544"/>
            <a:ext cx="6199632" cy="438912"/>
          </a:xfrm>
          <a:prstGeom prst="rect"/>
          <a:solidFill>
            <a:srgbClr val="EAF3DE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53" name="Text 29"/>
          <p:cNvSpPr txBox="1"/>
          <p:nvPr/>
        </p:nvSpPr>
        <p:spPr>
          <a:xfrm>
            <a:off x="457200" y="4416552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</a:t>
            </a:r>
            <a:endParaRPr dirty="0" sz="1000" lang="en-US"/>
          </a:p>
        </p:txBody>
      </p:sp>
      <p:sp>
        <p:nvSpPr>
          <p:cNvPr id="1048754" name="Text 30"/>
          <p:cNvSpPr txBox="1"/>
          <p:nvPr/>
        </p:nvSpPr>
        <p:spPr>
          <a:xfrm>
            <a:off x="2670048" y="4416552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 protocol (Cosmos bridge) + Ethereum + BNB Chain bridges</a:t>
            </a:r>
            <a:endParaRPr dirty="0" sz="1000" lang="en-US"/>
          </a:p>
        </p:txBody>
      </p:sp>
      <p:sp>
        <p:nvSpPr>
          <p:cNvPr id="1048755" name="Shape 31"/>
          <p:cNvSpPr/>
          <p:nvPr/>
        </p:nvSpPr>
        <p:spPr>
          <a:xfrm>
            <a:off x="365760" y="4864608"/>
            <a:ext cx="2194560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56" name="Shape 32"/>
          <p:cNvSpPr/>
          <p:nvPr/>
        </p:nvSpPr>
        <p:spPr>
          <a:xfrm>
            <a:off x="2578608" y="4864608"/>
            <a:ext cx="6199632" cy="438912"/>
          </a:xfrm>
          <a:prstGeom prst="rect"/>
          <a:solidFill>
            <a:srgbClr val="F5FAF5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757" name="Text 33"/>
          <p:cNvSpPr txBox="1"/>
          <p:nvPr/>
        </p:nvSpPr>
        <p:spPr>
          <a:xfrm>
            <a:off x="457200" y="4928616"/>
            <a:ext cx="20116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dirty="0" sz="1000" lang="en-US"/>
          </a:p>
        </p:txBody>
      </p:sp>
      <p:sp>
        <p:nvSpPr>
          <p:cNvPr id="1048758" name="Text 34"/>
          <p:cNvSpPr txBox="1"/>
          <p:nvPr/>
        </p:nvSpPr>
        <p:spPr>
          <a:xfrm>
            <a:off x="2670048" y="4928616"/>
            <a:ext cx="6016752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CertiK audit + ₹10 crore bug bounty + 7-of-7 multisig Security Council</a:t>
            </a:r>
            <a:endParaRPr dirty="0" sz="1000" lang="en-US"/>
          </a:p>
        </p:txBody>
      </p:sp>
      <p:sp>
        <p:nvSpPr>
          <p:cNvPr id="1048759" name="Shape 35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760" name="Text 36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6 / 12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765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</a:t>
            </a:r>
            <a:endParaRPr dirty="0" sz="900" lang="en-US"/>
          </a:p>
        </p:txBody>
      </p:sp>
      <p:sp>
        <p:nvSpPr>
          <p:cNvPr id="1048766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$SMRD — 1 Billion total supply, fixed forever.</a:t>
            </a:r>
            <a:endParaRPr dirty="0" sz="2600" lang="en-US"/>
          </a:p>
        </p:txBody>
      </p:sp>
      <p:sp>
        <p:nvSpPr>
          <p:cNvPr id="1048767" name="Shape 3"/>
          <p:cNvSpPr/>
          <p:nvPr/>
        </p:nvSpPr>
        <p:spPr>
          <a:xfrm>
            <a:off x="2834640" y="1389888"/>
            <a:ext cx="1760220" cy="347472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768" name="Text 4"/>
          <p:cNvSpPr txBox="1"/>
          <p:nvPr/>
        </p:nvSpPr>
        <p:spPr>
          <a:xfrm>
            <a:off x="365760" y="1389888"/>
            <a:ext cx="2423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Ecosystem</a:t>
            </a:r>
            <a:endParaRPr dirty="0" sz="1000" lang="en-US"/>
          </a:p>
        </p:txBody>
      </p:sp>
      <p:sp>
        <p:nvSpPr>
          <p:cNvPr id="1048769" name="Text 5"/>
          <p:cNvSpPr txBox="1"/>
          <p:nvPr/>
        </p:nvSpPr>
        <p:spPr>
          <a:xfrm>
            <a:off x="7909560" y="1389888"/>
            <a:ext cx="73152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dirty="0" sz="1000" lang="en-US"/>
          </a:p>
        </p:txBody>
      </p:sp>
      <p:sp>
        <p:nvSpPr>
          <p:cNvPr id="1048770" name="Text 6"/>
          <p:cNvSpPr txBox="1"/>
          <p:nvPr/>
        </p:nvSpPr>
        <p:spPr>
          <a:xfrm>
            <a:off x="8686800" y="1389888"/>
            <a:ext cx="82296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350MM</a:t>
            </a:r>
            <a:endParaRPr dirty="0" sz="1000" lang="en-US"/>
          </a:p>
        </p:txBody>
      </p:sp>
      <p:sp>
        <p:nvSpPr>
          <p:cNvPr id="1048771" name="Shape 7"/>
          <p:cNvSpPr/>
          <p:nvPr/>
        </p:nvSpPr>
        <p:spPr>
          <a:xfrm>
            <a:off x="2834640" y="1965960"/>
            <a:ext cx="754380" cy="347472"/>
          </a:xfrm>
          <a:prstGeom prst="rect"/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772" name="Text 8"/>
          <p:cNvSpPr txBox="1"/>
          <p:nvPr/>
        </p:nvSpPr>
        <p:spPr>
          <a:xfrm>
            <a:off x="365760" y="1965960"/>
            <a:ext cx="2423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Fund</a:t>
            </a:r>
            <a:endParaRPr dirty="0" sz="1000" lang="en-US"/>
          </a:p>
        </p:txBody>
      </p:sp>
      <p:sp>
        <p:nvSpPr>
          <p:cNvPr id="1048773" name="Text 9"/>
          <p:cNvSpPr txBox="1"/>
          <p:nvPr/>
        </p:nvSpPr>
        <p:spPr>
          <a:xfrm>
            <a:off x="7909560" y="1965960"/>
            <a:ext cx="73152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000" lang="en-US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dirty="0" sz="1000" lang="en-US"/>
          </a:p>
        </p:txBody>
      </p:sp>
      <p:sp>
        <p:nvSpPr>
          <p:cNvPr id="1048774" name="Text 10"/>
          <p:cNvSpPr txBox="1"/>
          <p:nvPr/>
        </p:nvSpPr>
        <p:spPr>
          <a:xfrm>
            <a:off x="8686800" y="1965960"/>
            <a:ext cx="82296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150MM</a:t>
            </a:r>
            <a:endParaRPr dirty="0" sz="1000" lang="en-US"/>
          </a:p>
        </p:txBody>
      </p:sp>
      <p:sp>
        <p:nvSpPr>
          <p:cNvPr id="1048775" name="Shape 11"/>
          <p:cNvSpPr/>
          <p:nvPr/>
        </p:nvSpPr>
        <p:spPr>
          <a:xfrm>
            <a:off x="2834640" y="2542032"/>
            <a:ext cx="754380" cy="347472"/>
          </a:xfrm>
          <a:prstGeom prst="rect"/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048776" name="Text 12"/>
          <p:cNvSpPr txBox="1"/>
          <p:nvPr/>
        </p:nvSpPr>
        <p:spPr>
          <a:xfrm>
            <a:off x="365760" y="2542032"/>
            <a:ext cx="2423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&amp; Team</a:t>
            </a:r>
            <a:endParaRPr dirty="0" sz="1000" lang="en-US"/>
          </a:p>
        </p:txBody>
      </p:sp>
      <p:sp>
        <p:nvSpPr>
          <p:cNvPr id="1048777" name="Text 13"/>
          <p:cNvSpPr txBox="1"/>
          <p:nvPr/>
        </p:nvSpPr>
        <p:spPr>
          <a:xfrm>
            <a:off x="7909560" y="2542032"/>
            <a:ext cx="73152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000" lang="en-US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dirty="0" sz="1000" lang="en-US"/>
          </a:p>
        </p:txBody>
      </p:sp>
      <p:sp>
        <p:nvSpPr>
          <p:cNvPr id="1048778" name="Text 14"/>
          <p:cNvSpPr txBox="1"/>
          <p:nvPr/>
        </p:nvSpPr>
        <p:spPr>
          <a:xfrm>
            <a:off x="8686800" y="2542032"/>
            <a:ext cx="82296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150MM</a:t>
            </a:r>
            <a:endParaRPr dirty="0" sz="1000" lang="en-US"/>
          </a:p>
        </p:txBody>
      </p:sp>
      <p:sp>
        <p:nvSpPr>
          <p:cNvPr id="1048779" name="Shape 15"/>
          <p:cNvSpPr/>
          <p:nvPr/>
        </p:nvSpPr>
        <p:spPr>
          <a:xfrm>
            <a:off x="2834640" y="3118104"/>
            <a:ext cx="502920" cy="347472"/>
          </a:xfrm>
          <a:prstGeom prst="rect"/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1048780" name="Text 16"/>
          <p:cNvSpPr txBox="1"/>
          <p:nvPr/>
        </p:nvSpPr>
        <p:spPr>
          <a:xfrm>
            <a:off x="365760" y="3118104"/>
            <a:ext cx="2423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dirty="0" sz="1000" lang="en-US"/>
          </a:p>
        </p:txBody>
      </p:sp>
      <p:sp>
        <p:nvSpPr>
          <p:cNvPr id="1048781" name="Text 17"/>
          <p:cNvSpPr txBox="1"/>
          <p:nvPr/>
        </p:nvSpPr>
        <p:spPr>
          <a:xfrm>
            <a:off x="7909560" y="3118104"/>
            <a:ext cx="73152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000" lang="en-US">
                <a:solidFill>
                  <a:srgbClr val="C4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dirty="0" sz="1000" lang="en-US"/>
          </a:p>
        </p:txBody>
      </p:sp>
      <p:sp>
        <p:nvSpPr>
          <p:cNvPr id="1048782" name="Text 18"/>
          <p:cNvSpPr txBox="1"/>
          <p:nvPr/>
        </p:nvSpPr>
        <p:spPr>
          <a:xfrm>
            <a:off x="8686800" y="3118104"/>
            <a:ext cx="82296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100MM</a:t>
            </a:r>
            <a:endParaRPr dirty="0" sz="1000" lang="en-US"/>
          </a:p>
        </p:txBody>
      </p:sp>
      <p:sp>
        <p:nvSpPr>
          <p:cNvPr id="1048783" name="Shape 19"/>
          <p:cNvSpPr/>
          <p:nvPr/>
        </p:nvSpPr>
        <p:spPr>
          <a:xfrm>
            <a:off x="2834640" y="3694176"/>
            <a:ext cx="502920" cy="347472"/>
          </a:xfrm>
          <a:prstGeom prst="rect"/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8784" name="Text 20"/>
          <p:cNvSpPr txBox="1"/>
          <p:nvPr/>
        </p:nvSpPr>
        <p:spPr>
          <a:xfrm>
            <a:off x="365760" y="3694176"/>
            <a:ext cx="2423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Rewards (10yr)</a:t>
            </a:r>
            <a:endParaRPr dirty="0" sz="1000" lang="en-US"/>
          </a:p>
        </p:txBody>
      </p:sp>
      <p:sp>
        <p:nvSpPr>
          <p:cNvPr id="1048785" name="Text 21"/>
          <p:cNvSpPr txBox="1"/>
          <p:nvPr/>
        </p:nvSpPr>
        <p:spPr>
          <a:xfrm>
            <a:off x="7909560" y="3694176"/>
            <a:ext cx="73152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000" lang="en-US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dirty="0" sz="1000" lang="en-US"/>
          </a:p>
        </p:txBody>
      </p:sp>
      <p:sp>
        <p:nvSpPr>
          <p:cNvPr id="1048786" name="Text 22"/>
          <p:cNvSpPr txBox="1"/>
          <p:nvPr/>
        </p:nvSpPr>
        <p:spPr>
          <a:xfrm>
            <a:off x="8686800" y="3694176"/>
            <a:ext cx="82296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100MM</a:t>
            </a:r>
            <a:endParaRPr dirty="0" sz="1000" lang="en-US"/>
          </a:p>
        </p:txBody>
      </p:sp>
      <p:sp>
        <p:nvSpPr>
          <p:cNvPr id="1048787" name="Shape 23"/>
          <p:cNvSpPr/>
          <p:nvPr/>
        </p:nvSpPr>
        <p:spPr>
          <a:xfrm>
            <a:off x="2834640" y="4270248"/>
            <a:ext cx="603504" cy="347472"/>
          </a:xfrm>
          <a:prstGeom prst="rect"/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048788" name="Text 24"/>
          <p:cNvSpPr txBox="1"/>
          <p:nvPr/>
        </p:nvSpPr>
        <p:spPr>
          <a:xfrm>
            <a:off x="365760" y="4270248"/>
            <a:ext cx="2423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&amp; Advisors</a:t>
            </a:r>
            <a:endParaRPr dirty="0" sz="1000" lang="en-US"/>
          </a:p>
        </p:txBody>
      </p:sp>
      <p:sp>
        <p:nvSpPr>
          <p:cNvPr id="1048789" name="Text 25"/>
          <p:cNvSpPr txBox="1"/>
          <p:nvPr/>
        </p:nvSpPr>
        <p:spPr>
          <a:xfrm>
            <a:off x="7909560" y="4270248"/>
            <a:ext cx="73152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000" lang="en-US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dirty="0" sz="1000" lang="en-US"/>
          </a:p>
        </p:txBody>
      </p:sp>
      <p:sp>
        <p:nvSpPr>
          <p:cNvPr id="1048790" name="Text 26"/>
          <p:cNvSpPr txBox="1"/>
          <p:nvPr/>
        </p:nvSpPr>
        <p:spPr>
          <a:xfrm>
            <a:off x="8686800" y="4270248"/>
            <a:ext cx="82296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120MM</a:t>
            </a:r>
            <a:endParaRPr dirty="0" sz="1000" lang="en-US"/>
          </a:p>
        </p:txBody>
      </p:sp>
      <p:sp>
        <p:nvSpPr>
          <p:cNvPr id="1048791" name="Shape 27"/>
          <p:cNvSpPr/>
          <p:nvPr/>
        </p:nvSpPr>
        <p:spPr>
          <a:xfrm>
            <a:off x="2834640" y="4846320"/>
            <a:ext cx="150876" cy="347472"/>
          </a:xfrm>
          <a:prstGeom prst="rect"/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048792" name="Text 28"/>
          <p:cNvSpPr txBox="1"/>
          <p:nvPr/>
        </p:nvSpPr>
        <p:spPr>
          <a:xfrm>
            <a:off x="365760" y="4846320"/>
            <a:ext cx="242316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Sale / IDO</a:t>
            </a:r>
            <a:endParaRPr dirty="0" sz="1000" lang="en-US"/>
          </a:p>
        </p:txBody>
      </p:sp>
      <p:sp>
        <p:nvSpPr>
          <p:cNvPr id="1048793" name="Text 29"/>
          <p:cNvSpPr txBox="1"/>
          <p:nvPr/>
        </p:nvSpPr>
        <p:spPr>
          <a:xfrm>
            <a:off x="7909560" y="4846320"/>
            <a:ext cx="73152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000" lang="en-US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dirty="0" sz="1000" lang="en-US"/>
          </a:p>
        </p:txBody>
      </p:sp>
      <p:sp>
        <p:nvSpPr>
          <p:cNvPr id="1048794" name="Text 30"/>
          <p:cNvSpPr txBox="1"/>
          <p:nvPr/>
        </p:nvSpPr>
        <p:spPr>
          <a:xfrm>
            <a:off x="8686800" y="4846320"/>
            <a:ext cx="822960" cy="347472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30MM</a:t>
            </a:r>
            <a:endParaRPr dirty="0" sz="1000" lang="en-US"/>
          </a:p>
        </p:txBody>
      </p:sp>
      <p:sp>
        <p:nvSpPr>
          <p:cNvPr id="1048795" name="Shape 31"/>
          <p:cNvSpPr/>
          <p:nvPr/>
        </p:nvSpPr>
        <p:spPr>
          <a:xfrm>
            <a:off x="365760" y="5897880"/>
            <a:ext cx="8412480" cy="502920"/>
          </a:xfrm>
          <a:prstGeom prst="rect"/>
          <a:solidFill>
            <a:srgbClr val="EAF3DE"/>
          </a:solidFill>
          <a:ln w="6350">
            <a:solidFill>
              <a:srgbClr val="4A9B4E"/>
            </a:solidFill>
            <a:prstDash val="solid"/>
          </a:ln>
        </p:spPr>
      </p:sp>
      <p:sp>
        <p:nvSpPr>
          <p:cNvPr id="1048796" name="Text 32"/>
          <p:cNvSpPr txBox="1"/>
          <p:nvPr/>
        </p:nvSpPr>
        <p:spPr>
          <a:xfrm>
            <a:off x="502920" y="5961888"/>
            <a:ext cx="8229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Burn mechanism: 20% of all UPI bridge fees permanently burned — deflationary as network grows.</a:t>
            </a:r>
            <a:endParaRPr dirty="0" sz="1000" lang="en-US"/>
          </a:p>
        </p:txBody>
      </p:sp>
      <p:sp>
        <p:nvSpPr>
          <p:cNvPr id="1048797" name="Shape 33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798" name="Text 34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7 / 12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03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STRATEGY</a:t>
            </a:r>
            <a:endParaRPr dirty="0" sz="900" lang="en-US"/>
          </a:p>
        </p:txBody>
      </p:sp>
      <p:sp>
        <p:nvSpPr>
          <p:cNvPr id="1048804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from day one — not an afterthought.</a:t>
            </a:r>
            <a:endParaRPr dirty="0" sz="2600" lang="en-US"/>
          </a:p>
        </p:txBody>
      </p:sp>
      <p:sp>
        <p:nvSpPr>
          <p:cNvPr id="1048805" name="Shape 3"/>
          <p:cNvSpPr/>
          <p:nvPr/>
        </p:nvSpPr>
        <p:spPr>
          <a:xfrm>
            <a:off x="274320" y="13716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06" name="Text 4"/>
          <p:cNvSpPr txBox="1"/>
          <p:nvPr/>
        </p:nvSpPr>
        <p:spPr>
          <a:xfrm>
            <a:off x="274320" y="1371600"/>
            <a:ext cx="45720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dirty="0" sz="1000" lang="en-US"/>
          </a:p>
        </p:txBody>
      </p:sp>
      <p:sp>
        <p:nvSpPr>
          <p:cNvPr id="1048807" name="Text 5"/>
          <p:cNvSpPr txBox="1"/>
          <p:nvPr/>
        </p:nvSpPr>
        <p:spPr>
          <a:xfrm>
            <a:off x="777240" y="1344168"/>
            <a:ext cx="1280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dirty="0" sz="1200" lang="en-US"/>
          </a:p>
        </p:txBody>
      </p:sp>
      <p:sp>
        <p:nvSpPr>
          <p:cNvPr id="1048808" name="Text 6"/>
          <p:cNvSpPr txBox="1"/>
          <p:nvPr/>
        </p:nvSpPr>
        <p:spPr>
          <a:xfrm>
            <a:off x="777240" y="1645920"/>
            <a:ext cx="80467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FIU-IND VASP registration · Aadhaar eKYC · 30% TDS reporting infrastructure · RBI-licensed PA partnership for UPI bridge · SEBI framework for RWA tokenisation</a:t>
            </a:r>
            <a:endParaRPr dirty="0" sz="950" lang="en-US"/>
          </a:p>
        </p:txBody>
      </p:sp>
      <p:sp>
        <p:nvSpPr>
          <p:cNvPr id="1048809" name="Shape 7"/>
          <p:cNvSpPr/>
          <p:nvPr/>
        </p:nvSpPr>
        <p:spPr>
          <a:xfrm>
            <a:off x="274320" y="2139696"/>
            <a:ext cx="8595360" cy="27432"/>
          </a:xfrm>
          <a:prstGeom prst="rect"/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1048810" name="Shape 8"/>
          <p:cNvSpPr/>
          <p:nvPr/>
        </p:nvSpPr>
        <p:spPr>
          <a:xfrm>
            <a:off x="274320" y="2286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11" name="Text 9"/>
          <p:cNvSpPr txBox="1"/>
          <p:nvPr/>
        </p:nvSpPr>
        <p:spPr>
          <a:xfrm>
            <a:off x="274320" y="2286000"/>
            <a:ext cx="45720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dirty="0" sz="1000" lang="en-US"/>
          </a:p>
        </p:txBody>
      </p:sp>
      <p:sp>
        <p:nvSpPr>
          <p:cNvPr id="1048812" name="Text 10"/>
          <p:cNvSpPr txBox="1"/>
          <p:nvPr/>
        </p:nvSpPr>
        <p:spPr>
          <a:xfrm>
            <a:off x="777240" y="2258568"/>
            <a:ext cx="1280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dirty="0" sz="1200" lang="en-US"/>
          </a:p>
        </p:txBody>
      </p:sp>
      <p:sp>
        <p:nvSpPr>
          <p:cNvPr id="1048813" name="Text 11"/>
          <p:cNvSpPr txBox="1"/>
          <p:nvPr/>
        </p:nvSpPr>
        <p:spPr>
          <a:xfrm>
            <a:off x="777240" y="2560320"/>
            <a:ext cx="80467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Foundation incorporated under MAS oversight · MAS Payment Services Act licence · Singapore as primary holding entity</a:t>
            </a:r>
            <a:endParaRPr dirty="0" sz="950" lang="en-US"/>
          </a:p>
        </p:txBody>
      </p:sp>
      <p:sp>
        <p:nvSpPr>
          <p:cNvPr id="1048814" name="Shape 12"/>
          <p:cNvSpPr/>
          <p:nvPr/>
        </p:nvSpPr>
        <p:spPr>
          <a:xfrm>
            <a:off x="274320" y="3054096"/>
            <a:ext cx="8595360" cy="27432"/>
          </a:xfrm>
          <a:prstGeom prst="rect"/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1048815" name="Shape 13"/>
          <p:cNvSpPr/>
          <p:nvPr/>
        </p:nvSpPr>
        <p:spPr>
          <a:xfrm>
            <a:off x="274320" y="32004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16" name="Text 14"/>
          <p:cNvSpPr txBox="1"/>
          <p:nvPr/>
        </p:nvSpPr>
        <p:spPr>
          <a:xfrm>
            <a:off x="274320" y="3200400"/>
            <a:ext cx="45720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dirty="0" sz="1000" lang="en-US"/>
          </a:p>
        </p:txBody>
      </p:sp>
      <p:sp>
        <p:nvSpPr>
          <p:cNvPr id="1048817" name="Text 15"/>
          <p:cNvSpPr txBox="1"/>
          <p:nvPr/>
        </p:nvSpPr>
        <p:spPr>
          <a:xfrm>
            <a:off x="777240" y="3172968"/>
            <a:ext cx="1280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dirty="0" sz="1200" lang="en-US"/>
          </a:p>
        </p:txBody>
      </p:sp>
      <p:sp>
        <p:nvSpPr>
          <p:cNvPr id="1048818" name="Text 16"/>
          <p:cNvSpPr txBox="1"/>
          <p:nvPr/>
        </p:nvSpPr>
        <p:spPr>
          <a:xfrm>
            <a:off x="777240" y="3474720"/>
            <a:ext cx="80467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CBUAE-licensed remittance corridor · UAE largest India remittance source ($18B/yr) · Partnership with licensed MTO</a:t>
            </a:r>
            <a:endParaRPr dirty="0" sz="950" lang="en-US"/>
          </a:p>
        </p:txBody>
      </p:sp>
      <p:sp>
        <p:nvSpPr>
          <p:cNvPr id="1048819" name="Shape 17"/>
          <p:cNvSpPr/>
          <p:nvPr/>
        </p:nvSpPr>
        <p:spPr>
          <a:xfrm>
            <a:off x="274320" y="3968496"/>
            <a:ext cx="8595360" cy="27432"/>
          </a:xfrm>
          <a:prstGeom prst="rect"/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1048820" name="Shape 18"/>
          <p:cNvSpPr/>
          <p:nvPr/>
        </p:nvSpPr>
        <p:spPr>
          <a:xfrm>
            <a:off x="274320" y="41148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21" name="Text 19"/>
          <p:cNvSpPr txBox="1"/>
          <p:nvPr/>
        </p:nvSpPr>
        <p:spPr>
          <a:xfrm>
            <a:off x="274320" y="4114800"/>
            <a:ext cx="45720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dirty="0" sz="1000" lang="en-US"/>
          </a:p>
        </p:txBody>
      </p:sp>
      <p:sp>
        <p:nvSpPr>
          <p:cNvPr id="1048822" name="Text 20"/>
          <p:cNvSpPr txBox="1"/>
          <p:nvPr/>
        </p:nvSpPr>
        <p:spPr>
          <a:xfrm>
            <a:off x="777240" y="4087368"/>
            <a:ext cx="1280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dirty="0" sz="1200" lang="en-US"/>
          </a:p>
        </p:txBody>
      </p:sp>
      <p:sp>
        <p:nvSpPr>
          <p:cNvPr id="1048823" name="Text 21"/>
          <p:cNvSpPr txBox="1"/>
          <p:nvPr/>
        </p:nvSpPr>
        <p:spPr>
          <a:xfrm>
            <a:off x="777240" y="4389120"/>
            <a:ext cx="80467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FCA-registered remittance partner · 1.8M Indian diaspora corridor · Compliance with FCA's cryptoasset registration regime</a:t>
            </a:r>
            <a:endParaRPr dirty="0" sz="950" lang="en-US"/>
          </a:p>
        </p:txBody>
      </p:sp>
      <p:sp>
        <p:nvSpPr>
          <p:cNvPr id="1048824" name="Shape 22"/>
          <p:cNvSpPr/>
          <p:nvPr/>
        </p:nvSpPr>
        <p:spPr>
          <a:xfrm>
            <a:off x="274320" y="4882896"/>
            <a:ext cx="8595360" cy="27432"/>
          </a:xfrm>
          <a:prstGeom prst="rect"/>
          <a:solidFill>
            <a:srgbClr val="E0E8E0"/>
          </a:solidFill>
          <a:ln w="12700">
            <a:solidFill>
              <a:srgbClr val="E0E8E0"/>
            </a:solidFill>
            <a:prstDash val="solid"/>
          </a:ln>
        </p:spPr>
      </p:sp>
      <p:sp>
        <p:nvSpPr>
          <p:cNvPr id="1048825" name="Shape 23"/>
          <p:cNvSpPr/>
          <p:nvPr/>
        </p:nvSpPr>
        <p:spPr>
          <a:xfrm>
            <a:off x="274320" y="50292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26" name="Text 24"/>
          <p:cNvSpPr txBox="1"/>
          <p:nvPr/>
        </p:nvSpPr>
        <p:spPr>
          <a:xfrm>
            <a:off x="274320" y="5029200"/>
            <a:ext cx="45720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dirty="0" sz="1000" lang="en-US"/>
          </a:p>
        </p:txBody>
      </p:sp>
      <p:sp>
        <p:nvSpPr>
          <p:cNvPr id="1048827" name="Text 25"/>
          <p:cNvSpPr txBox="1"/>
          <p:nvPr/>
        </p:nvSpPr>
        <p:spPr>
          <a:xfrm>
            <a:off x="777240" y="5001768"/>
            <a:ext cx="128016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dirty="0" sz="1200" lang="en-US"/>
          </a:p>
        </p:txBody>
      </p:sp>
      <p:sp>
        <p:nvSpPr>
          <p:cNvPr id="1048828" name="Text 26"/>
          <p:cNvSpPr txBox="1"/>
          <p:nvPr/>
        </p:nvSpPr>
        <p:spPr>
          <a:xfrm>
            <a:off x="777240" y="5303520"/>
            <a:ext cx="80467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FinCEN MSB-registered · GENIUS Act stablecoin compliance for INRX · US Indian diaspora corridor ($12B/yr)</a:t>
            </a:r>
            <a:endParaRPr dirty="0" sz="950" lang="en-US"/>
          </a:p>
        </p:txBody>
      </p:sp>
      <p:sp>
        <p:nvSpPr>
          <p:cNvPr id="1048829" name="Shape 27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830" name="Text 28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8 / 12</a:t>
            </a:r>
            <a:endParaRPr dirty="0" sz="9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35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dirty="0" sz="900" lang="en-US"/>
          </a:p>
        </p:txBody>
      </p:sp>
      <p:sp>
        <p:nvSpPr>
          <p:cNvPr id="1048836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first. Then the world.</a:t>
            </a:r>
            <a:endParaRPr dirty="0" sz="2600" lang="en-US"/>
          </a:p>
        </p:txBody>
      </p:sp>
      <p:sp>
        <p:nvSpPr>
          <p:cNvPr id="1048837" name="Shape 3"/>
          <p:cNvSpPr/>
          <p:nvPr/>
        </p:nvSpPr>
        <p:spPr>
          <a:xfrm>
            <a:off x="274320" y="1298448"/>
            <a:ext cx="1993392" cy="4434840"/>
          </a:xfrm>
          <a:prstGeom prst="rect"/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838" name="Shape 4"/>
          <p:cNvSpPr/>
          <p:nvPr/>
        </p:nvSpPr>
        <p:spPr>
          <a:xfrm>
            <a:off x="274320" y="1298448"/>
            <a:ext cx="1993392" cy="502920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39" name="Text 5"/>
          <p:cNvSpPr txBox="1"/>
          <p:nvPr/>
        </p:nvSpPr>
        <p:spPr>
          <a:xfrm>
            <a:off x="274320" y="1344168"/>
            <a:ext cx="199339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dirty="0" sz="1100" lang="en-US"/>
          </a:p>
        </p:txBody>
      </p:sp>
      <p:sp>
        <p:nvSpPr>
          <p:cNvPr id="1048840" name="Text 6"/>
          <p:cNvSpPr txBox="1"/>
          <p:nvPr/>
        </p:nvSpPr>
        <p:spPr>
          <a:xfrm>
            <a:off x="274320" y="1591056"/>
            <a:ext cx="1993392" cy="2011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1–9</a:t>
            </a:r>
            <a:endParaRPr dirty="0" sz="900" lang="en-US"/>
          </a:p>
        </p:txBody>
      </p:sp>
      <p:sp>
        <p:nvSpPr>
          <p:cNvPr id="1048841" name="Text 7"/>
          <p:cNvSpPr txBox="1"/>
          <p:nvPr/>
        </p:nvSpPr>
        <p:spPr>
          <a:xfrm>
            <a:off x="365760" y="1920240"/>
            <a:ext cx="1828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First</a:t>
            </a:r>
            <a:endParaRPr dirty="0" sz="1200" lang="en-US"/>
          </a:p>
        </p:txBody>
      </p:sp>
      <p:sp>
        <p:nvSpPr>
          <p:cNvPr id="1048842" name="Text 8"/>
          <p:cNvSpPr txBox="1"/>
          <p:nvPr/>
        </p:nvSpPr>
        <p:spPr>
          <a:xfrm>
            <a:off x="365760" y="2331720"/>
            <a:ext cx="1810512" cy="23774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Tier 2/3 cities. Target auto-drivers, traders &amp; freelancers. Regional language YouTubers. Goal: 1 lakh wallets.</a:t>
            </a:r>
            <a:endParaRPr dirty="0" sz="950" lang="en-US"/>
          </a:p>
        </p:txBody>
      </p:sp>
      <p:sp>
        <p:nvSpPr>
          <p:cNvPr id="1048843" name="Shape 9"/>
          <p:cNvSpPr/>
          <p:nvPr/>
        </p:nvSpPr>
        <p:spPr>
          <a:xfrm>
            <a:off x="2450592" y="1298448"/>
            <a:ext cx="1993392" cy="4434840"/>
          </a:xfrm>
          <a:prstGeom prst="rect"/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844" name="Shape 10"/>
          <p:cNvSpPr/>
          <p:nvPr/>
        </p:nvSpPr>
        <p:spPr>
          <a:xfrm>
            <a:off x="2450592" y="1298448"/>
            <a:ext cx="1993392" cy="502920"/>
          </a:xfrm>
          <a:prstGeom prst="rect"/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45" name="Text 11"/>
          <p:cNvSpPr txBox="1"/>
          <p:nvPr/>
        </p:nvSpPr>
        <p:spPr>
          <a:xfrm>
            <a:off x="2450592" y="1344168"/>
            <a:ext cx="199339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dirty="0" sz="1100" lang="en-US"/>
          </a:p>
        </p:txBody>
      </p:sp>
      <p:sp>
        <p:nvSpPr>
          <p:cNvPr id="1048846" name="Text 12"/>
          <p:cNvSpPr txBox="1"/>
          <p:nvPr/>
        </p:nvSpPr>
        <p:spPr>
          <a:xfrm>
            <a:off x="2450592" y="1591056"/>
            <a:ext cx="1993392" cy="2011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9–18</a:t>
            </a:r>
            <a:endParaRPr dirty="0" sz="900" lang="en-US"/>
          </a:p>
        </p:txBody>
      </p:sp>
      <p:sp>
        <p:nvSpPr>
          <p:cNvPr id="1048847" name="Text 13"/>
          <p:cNvSpPr txBox="1"/>
          <p:nvPr/>
        </p:nvSpPr>
        <p:spPr>
          <a:xfrm>
            <a:off x="2542032" y="1920240"/>
            <a:ext cx="1828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4A9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Corridors</a:t>
            </a:r>
            <a:endParaRPr dirty="0" sz="1200" lang="en-US"/>
          </a:p>
        </p:txBody>
      </p:sp>
      <p:sp>
        <p:nvSpPr>
          <p:cNvPr id="1048848" name="Text 14"/>
          <p:cNvSpPr txBox="1"/>
          <p:nvPr/>
        </p:nvSpPr>
        <p:spPr>
          <a:xfrm>
            <a:off x="2542032" y="2331720"/>
            <a:ext cx="1810512" cy="23774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UK, USA remittance launch. Indian community partnerships. Goal: 10,000 monthly remittance users.</a:t>
            </a:r>
            <a:endParaRPr dirty="0" sz="950" lang="en-US"/>
          </a:p>
        </p:txBody>
      </p:sp>
      <p:sp>
        <p:nvSpPr>
          <p:cNvPr id="1048849" name="Shape 15"/>
          <p:cNvSpPr/>
          <p:nvPr/>
        </p:nvSpPr>
        <p:spPr>
          <a:xfrm>
            <a:off x="4626864" y="1298448"/>
            <a:ext cx="1993392" cy="4434840"/>
          </a:xfrm>
          <a:prstGeom prst="rect"/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850" name="Shape 16"/>
          <p:cNvSpPr/>
          <p:nvPr/>
        </p:nvSpPr>
        <p:spPr>
          <a:xfrm>
            <a:off x="4626864" y="1298448"/>
            <a:ext cx="1993392" cy="502920"/>
          </a:xfrm>
          <a:prstGeom prst="rect"/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048851" name="Text 17"/>
          <p:cNvSpPr txBox="1"/>
          <p:nvPr/>
        </p:nvSpPr>
        <p:spPr>
          <a:xfrm>
            <a:off x="4626864" y="1344168"/>
            <a:ext cx="199339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dirty="0" sz="1100" lang="en-US"/>
          </a:p>
        </p:txBody>
      </p:sp>
      <p:sp>
        <p:nvSpPr>
          <p:cNvPr id="1048852" name="Text 18"/>
          <p:cNvSpPr txBox="1"/>
          <p:nvPr/>
        </p:nvSpPr>
        <p:spPr>
          <a:xfrm>
            <a:off x="4626864" y="1591056"/>
            <a:ext cx="1993392" cy="2011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18–30</a:t>
            </a:r>
            <a:endParaRPr dirty="0" sz="900" lang="en-US"/>
          </a:p>
        </p:txBody>
      </p:sp>
      <p:sp>
        <p:nvSpPr>
          <p:cNvPr id="1048853" name="Text 19"/>
          <p:cNvSpPr txBox="1"/>
          <p:nvPr/>
        </p:nvSpPr>
        <p:spPr>
          <a:xfrm>
            <a:off x="4718304" y="1920240"/>
            <a:ext cx="1828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&amp; RWA</a:t>
            </a:r>
            <a:endParaRPr dirty="0" sz="1200" lang="en-US"/>
          </a:p>
        </p:txBody>
      </p:sp>
      <p:sp>
        <p:nvSpPr>
          <p:cNvPr id="1048854" name="Text 20"/>
          <p:cNvSpPr txBox="1"/>
          <p:nvPr/>
        </p:nvSpPr>
        <p:spPr>
          <a:xfrm>
            <a:off x="4718304" y="2331720"/>
            <a:ext cx="1810512" cy="23774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DeFi launch. Digital Gold (DGLD). SIP mode. Goal: ₹100 crore TVL.</a:t>
            </a:r>
            <a:endParaRPr dirty="0" sz="950" lang="en-US"/>
          </a:p>
        </p:txBody>
      </p:sp>
      <p:sp>
        <p:nvSpPr>
          <p:cNvPr id="1048855" name="Shape 21"/>
          <p:cNvSpPr/>
          <p:nvPr/>
        </p:nvSpPr>
        <p:spPr>
          <a:xfrm>
            <a:off x="6803136" y="1298448"/>
            <a:ext cx="1993392" cy="4434840"/>
          </a:xfrm>
          <a:prstGeom prst="rect"/>
          <a:solidFill>
            <a:srgbClr val="F8FBF8"/>
          </a:solidFill>
          <a:ln w="10160">
            <a:solidFill>
              <a:srgbClr val="D4E8D4"/>
            </a:solidFill>
            <a:prstDash val="solid"/>
          </a:ln>
        </p:spPr>
      </p:sp>
      <p:sp>
        <p:nvSpPr>
          <p:cNvPr id="1048856" name="Shape 22"/>
          <p:cNvSpPr/>
          <p:nvPr/>
        </p:nvSpPr>
        <p:spPr>
          <a:xfrm>
            <a:off x="6803136" y="1298448"/>
            <a:ext cx="1993392" cy="502920"/>
          </a:xfrm>
          <a:prstGeom prst="rect"/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1048857" name="Text 23"/>
          <p:cNvSpPr txBox="1"/>
          <p:nvPr/>
        </p:nvSpPr>
        <p:spPr>
          <a:xfrm>
            <a:off x="6803136" y="1344168"/>
            <a:ext cx="199339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dirty="0" sz="1100" lang="en-US"/>
          </a:p>
        </p:txBody>
      </p:sp>
      <p:sp>
        <p:nvSpPr>
          <p:cNvPr id="1048858" name="Text 24"/>
          <p:cNvSpPr txBox="1"/>
          <p:nvPr/>
        </p:nvSpPr>
        <p:spPr>
          <a:xfrm>
            <a:off x="6803136" y="1591056"/>
            <a:ext cx="1993392" cy="2011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30–36</a:t>
            </a:r>
            <a:endParaRPr dirty="0" sz="900" lang="en-US"/>
          </a:p>
        </p:txBody>
      </p:sp>
      <p:sp>
        <p:nvSpPr>
          <p:cNvPr id="1048859" name="Text 25"/>
          <p:cNvSpPr txBox="1"/>
          <p:nvPr/>
        </p:nvSpPr>
        <p:spPr>
          <a:xfrm>
            <a:off x="6894576" y="1920240"/>
            <a:ext cx="1828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C4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Listings</a:t>
            </a:r>
            <a:endParaRPr dirty="0" sz="1200" lang="en-US"/>
          </a:p>
        </p:txBody>
      </p:sp>
      <p:sp>
        <p:nvSpPr>
          <p:cNvPr id="1048860" name="Text 26"/>
          <p:cNvSpPr txBox="1"/>
          <p:nvPr/>
        </p:nvSpPr>
        <p:spPr>
          <a:xfrm>
            <a:off x="6894576" y="2331720"/>
            <a:ext cx="1810512" cy="23774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KuCoin, Bybit, Gate.io. Apply for Binance &amp; Coinbase. Goal: Top 500 CMC ranking.</a:t>
            </a:r>
            <a:endParaRPr dirty="0" sz="950" lang="en-US"/>
          </a:p>
        </p:txBody>
      </p:sp>
      <p:sp>
        <p:nvSpPr>
          <p:cNvPr id="1048861" name="Shape 27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862" name="Text 28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9 / 12</a:t>
            </a:r>
            <a:endParaRPr dirty="0" sz="9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67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dirty="0" sz="900" lang="en-US"/>
          </a:p>
        </p:txBody>
      </p:sp>
      <p:sp>
        <p:nvSpPr>
          <p:cNvPr id="1048868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path from launch to Tier 1.</a:t>
            </a:r>
            <a:endParaRPr dirty="0" sz="2600" lang="en-US"/>
          </a:p>
        </p:txBody>
      </p:sp>
      <p:sp>
        <p:nvSpPr>
          <p:cNvPr id="1048869" name="Shape 3"/>
          <p:cNvSpPr/>
          <p:nvPr/>
        </p:nvSpPr>
        <p:spPr>
          <a:xfrm>
            <a:off x="274320" y="1298448"/>
            <a:ext cx="822960" cy="1005840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70" name="Text 4"/>
          <p:cNvSpPr txBox="1"/>
          <p:nvPr/>
        </p:nvSpPr>
        <p:spPr>
          <a:xfrm>
            <a:off x="274320" y="1463040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dirty="0" sz="900" lang="en-US"/>
          </a:p>
        </p:txBody>
      </p:sp>
      <p:sp>
        <p:nvSpPr>
          <p:cNvPr id="1048871" name="Shape 5"/>
          <p:cNvSpPr/>
          <p:nvPr/>
        </p:nvSpPr>
        <p:spPr>
          <a:xfrm>
            <a:off x="1115568" y="1298448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872" name="Text 6"/>
          <p:cNvSpPr txBox="1"/>
          <p:nvPr/>
        </p:nvSpPr>
        <p:spPr>
          <a:xfrm>
            <a:off x="1207008" y="1435608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filing, domain registration, team formation, whitepaper</a:t>
            </a:r>
            <a:endParaRPr dirty="0" sz="950" lang="en-US"/>
          </a:p>
        </p:txBody>
      </p:sp>
      <p:sp>
        <p:nvSpPr>
          <p:cNvPr id="1048873" name="Shape 7"/>
          <p:cNvSpPr/>
          <p:nvPr/>
        </p:nvSpPr>
        <p:spPr>
          <a:xfrm>
            <a:off x="4709160" y="1298448"/>
            <a:ext cx="822960" cy="1005840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74" name="Text 8"/>
          <p:cNvSpPr txBox="1"/>
          <p:nvPr/>
        </p:nvSpPr>
        <p:spPr>
          <a:xfrm>
            <a:off x="4709160" y="1463040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dirty="0" sz="900" lang="en-US"/>
          </a:p>
        </p:txBody>
      </p:sp>
      <p:sp>
        <p:nvSpPr>
          <p:cNvPr id="1048875" name="Shape 9"/>
          <p:cNvSpPr/>
          <p:nvPr/>
        </p:nvSpPr>
        <p:spPr>
          <a:xfrm>
            <a:off x="5550408" y="1298448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876" name="Text 10"/>
          <p:cNvSpPr txBox="1"/>
          <p:nvPr/>
        </p:nvSpPr>
        <p:spPr>
          <a:xfrm>
            <a:off x="5641848" y="1435608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BharatChain testnet, smart contract dev, CertiK audit, seed raise</a:t>
            </a:r>
            <a:endParaRPr dirty="0" sz="950" lang="en-US"/>
          </a:p>
        </p:txBody>
      </p:sp>
      <p:sp>
        <p:nvSpPr>
          <p:cNvPr id="1048877" name="Shape 11"/>
          <p:cNvSpPr/>
          <p:nvPr/>
        </p:nvSpPr>
        <p:spPr>
          <a:xfrm>
            <a:off x="274320" y="2468880"/>
            <a:ext cx="822960" cy="1005840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78" name="Text 12"/>
          <p:cNvSpPr txBox="1"/>
          <p:nvPr/>
        </p:nvSpPr>
        <p:spPr>
          <a:xfrm>
            <a:off x="274320" y="2633472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dirty="0" sz="900" lang="en-US"/>
          </a:p>
        </p:txBody>
      </p:sp>
      <p:sp>
        <p:nvSpPr>
          <p:cNvPr id="1048879" name="Shape 13"/>
          <p:cNvSpPr/>
          <p:nvPr/>
        </p:nvSpPr>
        <p:spPr>
          <a:xfrm>
            <a:off x="1115568" y="2468880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880" name="Text 14"/>
          <p:cNvSpPr txBox="1"/>
          <p:nvPr/>
        </p:nvSpPr>
        <p:spPr>
          <a:xfrm>
            <a:off x="1207008" y="2606040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launch, Samrudo Wallet beta, DEX listing (Uniswap)</a:t>
            </a:r>
            <a:endParaRPr dirty="0" sz="950" lang="en-US"/>
          </a:p>
        </p:txBody>
      </p:sp>
      <p:sp>
        <p:nvSpPr>
          <p:cNvPr id="1048881" name="Shape 15"/>
          <p:cNvSpPr/>
          <p:nvPr/>
        </p:nvSpPr>
        <p:spPr>
          <a:xfrm>
            <a:off x="4709160" y="2468880"/>
            <a:ext cx="822960" cy="1005840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882" name="Text 16"/>
          <p:cNvSpPr txBox="1"/>
          <p:nvPr/>
        </p:nvSpPr>
        <p:spPr>
          <a:xfrm>
            <a:off x="4709160" y="2633472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dirty="0" sz="900" lang="en-US"/>
          </a:p>
        </p:txBody>
      </p:sp>
      <p:sp>
        <p:nvSpPr>
          <p:cNvPr id="1048883" name="Shape 17"/>
          <p:cNvSpPr/>
          <p:nvPr/>
        </p:nvSpPr>
        <p:spPr>
          <a:xfrm>
            <a:off x="5550408" y="2468880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884" name="Text 18"/>
          <p:cNvSpPr txBox="1"/>
          <p:nvPr/>
        </p:nvSpPr>
        <p:spPr>
          <a:xfrm>
            <a:off x="5641848" y="2606040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bridge v1, 22-language wallet, CoinDCX + WazirX listing</a:t>
            </a:r>
            <a:endParaRPr dirty="0" sz="950" lang="en-US"/>
          </a:p>
        </p:txBody>
      </p:sp>
      <p:sp>
        <p:nvSpPr>
          <p:cNvPr id="1048885" name="Shape 19"/>
          <p:cNvSpPr/>
          <p:nvPr/>
        </p:nvSpPr>
        <p:spPr>
          <a:xfrm>
            <a:off x="274320" y="3639312"/>
            <a:ext cx="822960" cy="1005840"/>
          </a:xfrm>
          <a:prstGeom prst="rect"/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86" name="Text 20"/>
          <p:cNvSpPr txBox="1"/>
          <p:nvPr/>
        </p:nvSpPr>
        <p:spPr>
          <a:xfrm>
            <a:off x="274320" y="3803904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dirty="0" sz="900" lang="en-US"/>
          </a:p>
        </p:txBody>
      </p:sp>
      <p:sp>
        <p:nvSpPr>
          <p:cNvPr id="1048887" name="Shape 21"/>
          <p:cNvSpPr/>
          <p:nvPr/>
        </p:nvSpPr>
        <p:spPr>
          <a:xfrm>
            <a:off x="1115568" y="3639312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888" name="Text 22"/>
          <p:cNvSpPr txBox="1"/>
          <p:nvPr/>
        </p:nvSpPr>
        <p:spPr>
          <a:xfrm>
            <a:off x="1207008" y="3776472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remittance, FIU-IND registration, DeFi lending pool v1</a:t>
            </a:r>
            <a:endParaRPr dirty="0" sz="950" lang="en-US"/>
          </a:p>
        </p:txBody>
      </p:sp>
      <p:sp>
        <p:nvSpPr>
          <p:cNvPr id="1048889" name="Shape 23"/>
          <p:cNvSpPr/>
          <p:nvPr/>
        </p:nvSpPr>
        <p:spPr>
          <a:xfrm>
            <a:off x="4709160" y="3639312"/>
            <a:ext cx="822960" cy="1005840"/>
          </a:xfrm>
          <a:prstGeom prst="rect"/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90" name="Text 24"/>
          <p:cNvSpPr txBox="1"/>
          <p:nvPr/>
        </p:nvSpPr>
        <p:spPr>
          <a:xfrm>
            <a:off x="4709160" y="3803904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dirty="0" sz="900" lang="en-US"/>
          </a:p>
        </p:txBody>
      </p:sp>
      <p:sp>
        <p:nvSpPr>
          <p:cNvPr id="1048891" name="Shape 25"/>
          <p:cNvSpPr/>
          <p:nvPr/>
        </p:nvSpPr>
        <p:spPr>
          <a:xfrm>
            <a:off x="5550408" y="3639312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892" name="Text 26"/>
          <p:cNvSpPr txBox="1"/>
          <p:nvPr/>
        </p:nvSpPr>
        <p:spPr>
          <a:xfrm>
            <a:off x="5641848" y="3776472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+ USA corridors, Digital Gold launch, KuCoin application</a:t>
            </a:r>
            <a:endParaRPr dirty="0" sz="950" lang="en-US"/>
          </a:p>
        </p:txBody>
      </p:sp>
      <p:sp>
        <p:nvSpPr>
          <p:cNvPr id="1048893" name="Shape 27"/>
          <p:cNvSpPr/>
          <p:nvPr/>
        </p:nvSpPr>
        <p:spPr>
          <a:xfrm>
            <a:off x="274320" y="4809744"/>
            <a:ext cx="822960" cy="1005840"/>
          </a:xfrm>
          <a:prstGeom prst="rect"/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94" name="Text 28"/>
          <p:cNvSpPr txBox="1"/>
          <p:nvPr/>
        </p:nvSpPr>
        <p:spPr>
          <a:xfrm>
            <a:off x="274320" y="4974336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</a:t>
            </a:r>
            <a:endParaRPr dirty="0" sz="900" lang="en-US"/>
          </a:p>
        </p:txBody>
      </p:sp>
      <p:sp>
        <p:nvSpPr>
          <p:cNvPr id="1048895" name="Shape 29"/>
          <p:cNvSpPr/>
          <p:nvPr/>
        </p:nvSpPr>
        <p:spPr>
          <a:xfrm>
            <a:off x="1115568" y="4809744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896" name="Text 30"/>
          <p:cNvSpPr txBox="1"/>
          <p:nvPr/>
        </p:nvSpPr>
        <p:spPr>
          <a:xfrm>
            <a:off x="1207008" y="4946904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real estate, SIP mode, 10 lakh wallets, Bybit listing</a:t>
            </a:r>
            <a:endParaRPr dirty="0" sz="950" lang="en-US"/>
          </a:p>
        </p:txBody>
      </p:sp>
      <p:sp>
        <p:nvSpPr>
          <p:cNvPr id="1048897" name="Shape 31"/>
          <p:cNvSpPr/>
          <p:nvPr/>
        </p:nvSpPr>
        <p:spPr>
          <a:xfrm>
            <a:off x="4709160" y="4809744"/>
            <a:ext cx="822960" cy="1005840"/>
          </a:xfrm>
          <a:prstGeom prst="rect"/>
          <a:solidFill>
            <a:srgbClr val="4A9B4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898" name="Text 32"/>
          <p:cNvSpPr txBox="1"/>
          <p:nvPr/>
        </p:nvSpPr>
        <p:spPr>
          <a:xfrm>
            <a:off x="4709160" y="4974336"/>
            <a:ext cx="8229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2028</a:t>
            </a:r>
            <a:endParaRPr dirty="0" sz="900" lang="en-US"/>
          </a:p>
        </p:txBody>
      </p:sp>
      <p:sp>
        <p:nvSpPr>
          <p:cNvPr id="1048899" name="Shape 33"/>
          <p:cNvSpPr/>
          <p:nvPr/>
        </p:nvSpPr>
        <p:spPr>
          <a:xfrm>
            <a:off x="5550408" y="4809744"/>
            <a:ext cx="3493008" cy="1005840"/>
          </a:xfrm>
          <a:prstGeom prst="rect"/>
          <a:solidFill>
            <a:srgbClr val="F2F8F2"/>
          </a:solidFill>
          <a:ln w="6350">
            <a:solidFill>
              <a:srgbClr val="D4E8D4"/>
            </a:solidFill>
            <a:prstDash val="solid"/>
          </a:ln>
        </p:spPr>
      </p:sp>
      <p:sp>
        <p:nvSpPr>
          <p:cNvPr id="1048900" name="Text 34"/>
          <p:cNvSpPr txBox="1"/>
          <p:nvPr/>
        </p:nvSpPr>
        <p:spPr>
          <a:xfrm>
            <a:off x="5641848" y="4946904"/>
            <a:ext cx="3310128" cy="7315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tokens, governance DAO, Binance / Coinbase application</a:t>
            </a:r>
            <a:endParaRPr dirty="0" sz="950" lang="en-US"/>
          </a:p>
        </p:txBody>
      </p:sp>
      <p:sp>
        <p:nvSpPr>
          <p:cNvPr id="1048901" name="Shape 35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902" name="Text 36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10 / 12</a:t>
            </a:r>
            <a:endParaRPr dirty="0" sz="9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Shape 0"/>
          <p:cNvSpPr/>
          <p:nvPr/>
        </p:nvSpPr>
        <p:spPr>
          <a:xfrm>
            <a:off x="365760" y="18288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907" name="Text 1"/>
          <p:cNvSpPr txBox="1"/>
          <p:nvPr/>
        </p:nvSpPr>
        <p:spPr>
          <a:xfrm>
            <a:off x="365760" y="201168"/>
            <a:ext cx="1463040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BUDGET</a:t>
            </a:r>
            <a:endParaRPr dirty="0" sz="900" lang="en-US"/>
          </a:p>
        </p:txBody>
      </p:sp>
      <p:sp>
        <p:nvSpPr>
          <p:cNvPr id="1048908" name="Text 2"/>
          <p:cNvSpPr txBox="1"/>
          <p:nvPr/>
        </p:nvSpPr>
        <p:spPr>
          <a:xfrm>
            <a:off x="365760" y="594360"/>
            <a:ext cx="841248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1A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₹50K buys now — and what we need next.</a:t>
            </a:r>
            <a:endParaRPr dirty="0" sz="2600" lang="en-US"/>
          </a:p>
        </p:txBody>
      </p:sp>
      <p:sp>
        <p:nvSpPr>
          <p:cNvPr id="1048909" name="Shape 3"/>
          <p:cNvSpPr/>
          <p:nvPr/>
        </p:nvSpPr>
        <p:spPr>
          <a:xfrm>
            <a:off x="365760" y="1234440"/>
            <a:ext cx="3931920" cy="4297680"/>
          </a:xfrm>
          <a:prstGeom prst="rect"/>
          <a:solidFill>
            <a:srgbClr val="EAF3DE"/>
          </a:solidFill>
          <a:ln w="10160">
            <a:solidFill>
              <a:srgbClr val="4A9B4E"/>
            </a:solidFill>
            <a:prstDash val="solid"/>
          </a:ln>
        </p:spPr>
      </p:sp>
      <p:sp>
        <p:nvSpPr>
          <p:cNvPr id="1048910" name="Text 4"/>
          <p:cNvSpPr txBox="1"/>
          <p:nvPr/>
        </p:nvSpPr>
        <p:spPr>
          <a:xfrm>
            <a:off x="502920" y="1353312"/>
            <a:ext cx="3657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2C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(₹50,000)</a:t>
            </a:r>
            <a:endParaRPr dirty="0" sz="1300" lang="en-US"/>
          </a:p>
        </p:txBody>
      </p:sp>
      <p:sp>
        <p:nvSpPr>
          <p:cNvPr id="1048911" name="Text 5"/>
          <p:cNvSpPr txBox="1"/>
          <p:nvPr/>
        </p:nvSpPr>
        <p:spPr>
          <a:xfrm>
            <a:off x="502920" y="1828800"/>
            <a:ext cx="3657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Trademark — IP India (2 classes) ₹9,000</a:t>
            </a:r>
            <a:endParaRPr dirty="0" sz="950" lang="en-US"/>
          </a:p>
        </p:txBody>
      </p:sp>
      <p:sp>
        <p:nvSpPr>
          <p:cNvPr id="1048912" name="Text 6"/>
          <p:cNvSpPr txBox="1"/>
          <p:nvPr/>
        </p:nvSpPr>
        <p:spPr>
          <a:xfrm>
            <a:off x="502920" y="2286000"/>
            <a:ext cx="3657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Domains — samrudo.com / .io / .in  ₹5,000</a:t>
            </a:r>
            <a:endParaRPr dirty="0" sz="950" lang="en-US"/>
          </a:p>
        </p:txBody>
      </p:sp>
      <p:sp>
        <p:nvSpPr>
          <p:cNvPr id="1048913" name="Text 7"/>
          <p:cNvSpPr txBox="1"/>
          <p:nvPr/>
        </p:nvSpPr>
        <p:spPr>
          <a:xfrm>
            <a:off x="502920" y="2743200"/>
            <a:ext cx="3657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Whitepaper — complete (built today)</a:t>
            </a:r>
            <a:endParaRPr dirty="0" sz="950" lang="en-US"/>
          </a:p>
        </p:txBody>
      </p:sp>
      <p:sp>
        <p:nvSpPr>
          <p:cNvPr id="1048914" name="Text 8"/>
          <p:cNvSpPr txBox="1"/>
          <p:nvPr/>
        </p:nvSpPr>
        <p:spPr>
          <a:xfrm>
            <a:off x="502920" y="3200400"/>
            <a:ext cx="3657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Pitch deck — complete (built today)</a:t>
            </a:r>
            <a:endParaRPr dirty="0" sz="950" lang="en-US"/>
          </a:p>
        </p:txBody>
      </p:sp>
      <p:sp>
        <p:nvSpPr>
          <p:cNvPr id="1048915" name="Text 9"/>
          <p:cNvSpPr txBox="1"/>
          <p:nvPr/>
        </p:nvSpPr>
        <p:spPr>
          <a:xfrm>
            <a:off x="502920" y="3657600"/>
            <a:ext cx="3657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Website (template) ₹8,000</a:t>
            </a:r>
            <a:endParaRPr dirty="0" sz="950" lang="en-US"/>
          </a:p>
        </p:txBody>
      </p:sp>
      <p:sp>
        <p:nvSpPr>
          <p:cNvPr id="1048916" name="Text 10"/>
          <p:cNvSpPr txBox="1"/>
          <p:nvPr/>
        </p:nvSpPr>
        <p:spPr>
          <a:xfrm>
            <a:off x="502920" y="4114800"/>
            <a:ext cx="3657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Social accounts setup — FREE</a:t>
            </a:r>
            <a:endParaRPr dirty="0" sz="950" lang="en-US"/>
          </a:p>
        </p:txBody>
      </p:sp>
      <p:sp>
        <p:nvSpPr>
          <p:cNvPr id="1048917" name="Text 11"/>
          <p:cNvSpPr txBox="1"/>
          <p:nvPr/>
        </p:nvSpPr>
        <p:spPr>
          <a:xfrm>
            <a:off x="502920" y="4572000"/>
            <a:ext cx="365760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Apply to crypto incubators — FREE</a:t>
            </a:r>
            <a:endParaRPr dirty="0" sz="950" lang="en-US"/>
          </a:p>
        </p:txBody>
      </p:sp>
      <p:sp>
        <p:nvSpPr>
          <p:cNvPr id="1048918" name="Shape 12"/>
          <p:cNvSpPr/>
          <p:nvPr/>
        </p:nvSpPr>
        <p:spPr>
          <a:xfrm>
            <a:off x="4572000" y="1234440"/>
            <a:ext cx="4206240" cy="4297680"/>
          </a:xfrm>
          <a:prstGeom prst="rect"/>
          <a:solidFill>
            <a:srgbClr val="FFF8F0"/>
          </a:solidFill>
          <a:ln w="10160">
            <a:solidFill>
              <a:srgbClr val="C49B1A"/>
            </a:solidFill>
            <a:prstDash val="solid"/>
          </a:ln>
        </p:spPr>
      </p:sp>
      <p:sp>
        <p:nvSpPr>
          <p:cNvPr id="1048919" name="Text 13"/>
          <p:cNvSpPr txBox="1"/>
          <p:nvPr/>
        </p:nvSpPr>
        <p:spPr>
          <a:xfrm>
            <a:off x="4709160" y="1353312"/>
            <a:ext cx="39319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Target: ₹50L–₹1Cr</a:t>
            </a:r>
            <a:endParaRPr dirty="0" sz="1300" lang="en-US"/>
          </a:p>
        </p:txBody>
      </p:sp>
      <p:sp>
        <p:nvSpPr>
          <p:cNvPr id="1048920" name="Text 14"/>
          <p:cNvSpPr txBox="1"/>
          <p:nvPr/>
        </p:nvSpPr>
        <p:spPr>
          <a:xfrm>
            <a:off x="4709160" y="1828800"/>
            <a:ext cx="39319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Smart contract dev + CertiK audit ₹30L</a:t>
            </a:r>
            <a:endParaRPr dirty="0" sz="950" lang="en-US"/>
          </a:p>
        </p:txBody>
      </p:sp>
      <p:sp>
        <p:nvSpPr>
          <p:cNvPr id="1048921" name="Text 15"/>
          <p:cNvSpPr txBox="1"/>
          <p:nvPr/>
        </p:nvSpPr>
        <p:spPr>
          <a:xfrm>
            <a:off x="4709160" y="2286000"/>
            <a:ext cx="39319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BharatChain testnet infrastructure ₹10L</a:t>
            </a:r>
            <a:endParaRPr dirty="0" sz="950" lang="en-US"/>
          </a:p>
        </p:txBody>
      </p:sp>
      <p:sp>
        <p:nvSpPr>
          <p:cNvPr id="1048922" name="Text 16"/>
          <p:cNvSpPr txBox="1"/>
          <p:nvPr/>
        </p:nvSpPr>
        <p:spPr>
          <a:xfrm>
            <a:off x="4709160" y="2743200"/>
            <a:ext cx="39319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Legal &amp; FIU-IND registration ₹8L</a:t>
            </a:r>
            <a:endParaRPr dirty="0" sz="950" lang="en-US"/>
          </a:p>
        </p:txBody>
      </p:sp>
      <p:sp>
        <p:nvSpPr>
          <p:cNvPr id="1048923" name="Text 17"/>
          <p:cNvSpPr txBox="1"/>
          <p:nvPr/>
        </p:nvSpPr>
        <p:spPr>
          <a:xfrm>
            <a:off x="4709160" y="3200400"/>
            <a:ext cx="39319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Samrudo Wallet MVP (Hindi) ₹15L</a:t>
            </a:r>
            <a:endParaRPr dirty="0" sz="950" lang="en-US"/>
          </a:p>
        </p:txBody>
      </p:sp>
      <p:sp>
        <p:nvSpPr>
          <p:cNvPr id="1048924" name="Text 18"/>
          <p:cNvSpPr txBox="1"/>
          <p:nvPr/>
        </p:nvSpPr>
        <p:spPr>
          <a:xfrm>
            <a:off x="4709160" y="3657600"/>
            <a:ext cx="39319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DEX liquidity provisioning ₹10L</a:t>
            </a:r>
            <a:endParaRPr dirty="0" sz="950" lang="en-US"/>
          </a:p>
        </p:txBody>
      </p:sp>
      <p:sp>
        <p:nvSpPr>
          <p:cNvPr id="1048925" name="Text 19"/>
          <p:cNvSpPr txBox="1"/>
          <p:nvPr/>
        </p:nvSpPr>
        <p:spPr>
          <a:xfrm>
            <a:off x="4709160" y="4114800"/>
            <a:ext cx="39319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Marketing &amp; community (6 months) ₹12L</a:t>
            </a:r>
            <a:endParaRPr dirty="0" sz="950" lang="en-US"/>
          </a:p>
        </p:txBody>
      </p:sp>
      <p:sp>
        <p:nvSpPr>
          <p:cNvPr id="1048926" name="Text 20"/>
          <p:cNvSpPr txBox="1"/>
          <p:nvPr/>
        </p:nvSpPr>
        <p:spPr>
          <a:xfrm>
            <a:off x="4709160" y="4572000"/>
            <a:ext cx="393192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Team (CTO + 2 engineers, 6 months) ₹15L</a:t>
            </a:r>
            <a:endParaRPr dirty="0" sz="950" lang="en-US"/>
          </a:p>
        </p:txBody>
      </p:sp>
      <p:sp>
        <p:nvSpPr>
          <p:cNvPr id="1048927" name="Shape 21"/>
          <p:cNvSpPr/>
          <p:nvPr/>
        </p:nvSpPr>
        <p:spPr>
          <a:xfrm>
            <a:off x="0" y="6309360"/>
            <a:ext cx="9144000" cy="32004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928" name="Text 22"/>
          <p:cNvSpPr txBox="1"/>
          <p:nvPr/>
        </p:nvSpPr>
        <p:spPr>
          <a:xfrm>
            <a:off x="274320" y="6327648"/>
            <a:ext cx="8595360" cy="2743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9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 ($SMRD)  |  samrudo.io  |  11 / 12</a:t>
            </a:r>
            <a:endParaRPr dirty="0" sz="9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1B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2" name="Shape 0"/>
          <p:cNvSpPr/>
          <p:nvPr/>
        </p:nvSpPr>
        <p:spPr>
          <a:xfrm>
            <a:off x="0" y="0"/>
            <a:ext cx="9144000" cy="6858000"/>
          </a:xfrm>
          <a:prstGeom prst="rect"/>
          <a:solidFill>
            <a:srgbClr val="1A3C1B"/>
          </a:solidFill>
          <a:ln w="12700">
            <a:solidFill>
              <a:srgbClr val="1A3C1B"/>
            </a:solidFill>
            <a:prstDash val="solid"/>
          </a:ln>
        </p:spPr>
      </p:sp>
      <p:sp>
        <p:nvSpPr>
          <p:cNvPr id="1048933" name="Shape 1"/>
          <p:cNvSpPr/>
          <p:nvPr/>
        </p:nvSpPr>
        <p:spPr>
          <a:xfrm>
            <a:off x="0" y="5029200"/>
            <a:ext cx="9144000" cy="1828800"/>
          </a:xfrm>
          <a:prstGeom prst="rect"/>
          <a:solidFill>
            <a:srgbClr val="2C5F2E"/>
          </a:solidFill>
          <a:ln w="12700">
            <a:solidFill>
              <a:srgbClr val="2C5F2E"/>
            </a:solidFill>
            <a:prstDash val="solid"/>
          </a:ln>
        </p:spPr>
      </p:sp>
      <p:sp>
        <p:nvSpPr>
          <p:cNvPr id="1048934" name="Shape 2"/>
          <p:cNvSpPr/>
          <p:nvPr/>
        </p:nvSpPr>
        <p:spPr>
          <a:xfrm>
            <a:off x="4160520" y="548640"/>
            <a:ext cx="822960" cy="822960"/>
          </a:xfrm>
          <a:prstGeom prst="hexagon"/>
          <a:solidFill>
            <a:srgbClr val="2C5F2E"/>
          </a:solidFill>
          <a:ln w="12700">
            <a:solidFill>
              <a:srgbClr val="4A9B4E"/>
            </a:solidFill>
            <a:prstDash val="solid"/>
          </a:ln>
        </p:spPr>
      </p:sp>
      <p:sp>
        <p:nvSpPr>
          <p:cNvPr id="1048935" name="Shape 3"/>
          <p:cNvSpPr/>
          <p:nvPr/>
        </p:nvSpPr>
        <p:spPr>
          <a:xfrm>
            <a:off x="4341571" y="1025957"/>
            <a:ext cx="115214" cy="205740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936" name="Shape 4"/>
          <p:cNvSpPr/>
          <p:nvPr/>
        </p:nvSpPr>
        <p:spPr>
          <a:xfrm>
            <a:off x="4514393" y="836676"/>
            <a:ext cx="115214" cy="395021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937" name="Shape 5"/>
          <p:cNvSpPr/>
          <p:nvPr/>
        </p:nvSpPr>
        <p:spPr>
          <a:xfrm>
            <a:off x="4687214" y="927202"/>
            <a:ext cx="115214" cy="304495"/>
          </a:xfrm>
          <a:prstGeom prst="rect"/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48938" name="Text 6"/>
          <p:cNvSpPr txBox="1"/>
          <p:nvPr/>
        </p:nvSpPr>
        <p:spPr>
          <a:xfrm>
            <a:off x="1828800" y="1508760"/>
            <a:ext cx="548640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Samrudo</a:t>
            </a:r>
            <a:endParaRPr dirty="0" sz="4600" lang="en-US"/>
          </a:p>
        </p:txBody>
      </p:sp>
      <p:sp>
        <p:nvSpPr>
          <p:cNvPr id="1048939" name="Text 7"/>
          <p:cNvSpPr txBox="1"/>
          <p:nvPr/>
        </p:nvSpPr>
        <p:spPr>
          <a:xfrm>
            <a:off x="1371600" y="2286000"/>
            <a:ext cx="64008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Global Payment Layer</a:t>
            </a:r>
            <a:endParaRPr dirty="0" sz="2000" lang="en-US"/>
          </a:p>
        </p:txBody>
      </p:sp>
      <p:sp>
        <p:nvSpPr>
          <p:cNvPr id="1048940" name="Shape 8"/>
          <p:cNvSpPr/>
          <p:nvPr/>
        </p:nvSpPr>
        <p:spPr>
          <a:xfrm>
            <a:off x="2286000" y="2880360"/>
            <a:ext cx="4572000" cy="36576"/>
          </a:xfrm>
          <a:prstGeom prst="rect"/>
          <a:solidFill>
            <a:srgbClr val="C49B1A"/>
          </a:solidFill>
          <a:ln w="12700">
            <a:solidFill>
              <a:srgbClr val="C49B1A"/>
            </a:solidFill>
            <a:prstDash val="solid"/>
          </a:ln>
        </p:spPr>
      </p:sp>
      <p:sp>
        <p:nvSpPr>
          <p:cNvPr id="1048941" name="Text 9"/>
          <p:cNvSpPr txBox="1"/>
          <p:nvPr/>
        </p:nvSpPr>
        <p:spPr>
          <a:xfrm>
            <a:off x="914400" y="3063240"/>
            <a:ext cx="731520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UPI does — and everything UPI cannot.</a:t>
            </a:r>
            <a:endParaRPr dirty="0" sz="1400" lang="en-US"/>
          </a:p>
        </p:txBody>
      </p:sp>
      <p:sp>
        <p:nvSpPr>
          <p:cNvPr id="1048942" name="Text 10"/>
          <p:cNvSpPr txBox="1"/>
          <p:nvPr/>
        </p:nvSpPr>
        <p:spPr>
          <a:xfrm>
            <a:off x="1371600" y="5138928"/>
            <a:ext cx="6400800" cy="34747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$SMRD  |  samrudo.io  |  contact@samrudo.io</a:t>
            </a:r>
            <a:endParaRPr dirty="0" sz="1200" lang="en-US"/>
          </a:p>
        </p:txBody>
      </p:sp>
      <p:sp>
        <p:nvSpPr>
          <p:cNvPr id="1048943" name="Text 11"/>
          <p:cNvSpPr txBox="1"/>
          <p:nvPr/>
        </p:nvSpPr>
        <p:spPr>
          <a:xfrm>
            <a:off x="457200" y="5687568"/>
            <a:ext cx="82296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88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Samrudo Foundation. All rights reserved. Confidential — for discussion purposes only.</a:t>
            </a:r>
            <a:endParaRPr dirty="0" sz="9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Samrudo ($SMRD) — Pitch Deck 2026</dc:title>
  <dc:creator>Samrudo Foundation</dc:creator>
  <cp:lastModifiedBy>Samrudo Foundation</cp:lastModifiedBy>
  <dcterms:created xsi:type="dcterms:W3CDTF">2026-09-05T14:06:50Z</dcterms:created>
  <dcterms:modified xsi:type="dcterms:W3CDTF">2026-09-06T04:15:50Z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78deaa201ae24bd7b9867bba7aa2f09a_23</vt:lpwstr>
  </property>
</Properties>
</file>